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Gameplay &amp; Dice" id="{6F2F7A8C-1549-1DC1-F6A8-E19DA28E2955}">
          <p14:sldIdLst>
            <p14:sldId id="256"/>
            <p14:sldId id="257"/>
            <p14:sldId id="258"/>
            <p14:sldId id="259"/>
            <p14:sldId id="260"/>
          </p14:sldIdLst>
        </p14:section>
        <p14:section name="Abilities &amp; Stats" id="{4E4795AB-D927-6A52-9B3A-E8DD10CD8FE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mbat &amp; Recovery" id="{6466E09F-4489-66D5-A9F8-12A5EE879C7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Magic" id="{812F19C4-4F54-1650-A286-2A0E122FA2CA}">
          <p14:sldIdLst>
            <p14:sldId id="277"/>
            <p14:sldId id="278"/>
            <p14:sldId id="279"/>
            <p14:sldId id="280"/>
          </p14:sldIdLst>
        </p14:section>
        <p14:section name="Equipment &amp; Conditions" id="{53384679-3117-DFD9-C43B-CD7984D423E0}">
          <p14:sldIdLst>
            <p14:sldId id="281"/>
            <p14:sldId id="282"/>
            <p14:sldId id="283"/>
          </p14:sldIdLst>
        </p14:section>
        <p14:section name="Adventuring" id="{C28BAEE6-B4C4-2F9C-4756-1E2D29351F42}">
          <p14:sldIdLst>
            <p14:sldId id="284"/>
            <p14:sldId id="285"/>
          </p14:sldIdLst>
        </p14:section>
        <p14:section name="Runeterra Classes" id="{60A3D87C-EDBA-5E0F-6ABC-66C6B420F0C5}">
          <p14:sldIdLst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2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1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Runeterra RPG  ·  D&amp;D 5.5e Rules Primer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274320"/>
            <a:ext cx="71597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Runeterra RPG  ·  D&amp;D 5.5e Rules Primer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8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36.png"/><Relationship Id="rId5" Type="http://schemas.openxmlformats.org/officeDocument/2006/relationships/image" Target="../media/image29.pn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5.png"/><Relationship Id="rId1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45.png"/><Relationship Id="rId4" Type="http://schemas.openxmlformats.org/officeDocument/2006/relationships/image" Target="../media/image56.png"/><Relationship Id="rId9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474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Mangoli" pitchFamily="2" charset="0"/>
                <a:ea typeface="questrial" pitchFamily="2" charset="0"/>
                <a:cs typeface="questrial" pitchFamily="2" charset="0"/>
              </a:rPr>
              <a:t>5.5 e Rules Primer</a:t>
            </a:r>
            <a:endParaRPr lang="en-US" sz="2200" dirty="0">
              <a:latin typeface="Mangoli" pitchFamily="2" charset="0"/>
              <a:ea typeface="questrial" pitchFamily="2" charset="0"/>
              <a:cs typeface="questrial" pitchFamily="2" charset="0"/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731520" y="43434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>
              <a:latin typeface="Mangoli" pitchFamily="2" charset="0"/>
            </a:endParaRPr>
          </a:p>
        </p:txBody>
      </p:sp>
      <p:pic>
        <p:nvPicPr>
          <p:cNvPr id="5" name="D20" descr="Illustrated twenty-sided d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188720"/>
            <a:ext cx="3931920" cy="3931920"/>
          </a:xfrm>
          <a:prstGeom prst="rect">
            <a:avLst/>
          </a:prstGeom>
        </p:spPr>
      </p:pic>
      <p:sp>
        <p:nvSpPr>
          <p:cNvPr id="6" name="Chip"/>
          <p:cNvSpPr/>
          <p:nvPr/>
        </p:nvSpPr>
        <p:spPr>
          <a:xfrm>
            <a:off x="731520" y="566928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Targon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7" name="Chip"/>
          <p:cNvSpPr/>
          <p:nvPr/>
        </p:nvSpPr>
        <p:spPr>
          <a:xfrm>
            <a:off x="2926080" y="566928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Demacia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8" name="Chip"/>
          <p:cNvSpPr/>
          <p:nvPr/>
        </p:nvSpPr>
        <p:spPr>
          <a:xfrm>
            <a:off x="5120640" y="566928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Bilgewater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7315200" y="566928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Shurima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0" name="Chip"/>
          <p:cNvSpPr/>
          <p:nvPr/>
        </p:nvSpPr>
        <p:spPr>
          <a:xfrm>
            <a:off x="9509760" y="566928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Ionia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916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0" dirty="0">
                <a:latin typeface="Mangoli" pitchFamily="2" charset="0"/>
              </a:rPr>
              <a:t>Legend Of </a:t>
            </a:r>
            <a:r>
              <a:rPr lang="en-US" sz="3200" b="0" dirty="0" err="1">
                <a:latin typeface="Mangoli" pitchFamily="2" charset="0"/>
              </a:rPr>
              <a:t>Runeterra’s</a:t>
            </a:r>
            <a:r>
              <a:rPr lang="en-US" sz="3200" b="0" dirty="0">
                <a:latin typeface="Mangoli" pitchFamily="2" charset="0"/>
              </a:rPr>
              <a:t> Enigma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C32705-6421-D231-0E81-CF610FF0E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" r="2230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8361B084-F248-91F7-5221-0D528C0059DB}"/>
              </a:ext>
            </a:extLst>
          </p:cNvPr>
          <p:cNvSpPr txBox="1">
            <a:spLocks/>
          </p:cNvSpPr>
          <p:nvPr/>
        </p:nvSpPr>
        <p:spPr>
          <a:xfrm>
            <a:off x="640080" y="2788918"/>
            <a:ext cx="5636433" cy="4595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  <p:txBody>
          <a:bodyPr wrap="square" lIns="0" tIns="0" rIns="0" bIns="0" rtlCol="0" anchor="b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6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0" dirty="0">
                <a:solidFill>
                  <a:srgbClr val="FF0000"/>
                </a:solidFill>
                <a:latin typeface="Mangoli" pitchFamily="2" charset="0"/>
              </a:rPr>
              <a:t>Legend Of </a:t>
            </a:r>
            <a:r>
              <a:rPr lang="en-IN" sz="3200" b="0" dirty="0" err="1">
                <a:solidFill>
                  <a:srgbClr val="FF0000"/>
                </a:solidFill>
                <a:latin typeface="Mangoli" pitchFamily="2" charset="0"/>
              </a:rPr>
              <a:t>Runeterra’s</a:t>
            </a:r>
            <a:r>
              <a:rPr lang="en-IN" sz="3200" b="0" dirty="0">
                <a:solidFill>
                  <a:srgbClr val="FF0000"/>
                </a:solidFill>
                <a:latin typeface="Mangoli" pitchFamily="2" charset="0"/>
              </a:rPr>
              <a:t> Enigma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Core Gameplay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392424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594360" y="1417320"/>
            <a:ext cx="548640" cy="493776"/>
          </a:xfrm>
          <a:prstGeom prst="hexag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angoli" pitchFamily="2" charset="0"/>
              </a:rPr>
              <a:t>1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1280160" y="14173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Mangoli" pitchFamily="2" charset="0"/>
              </a:rPr>
              <a:t>The DM Describes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64008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The Dungeon Master sets the scene: where you are, what you see, and who is there.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7" name="Arrow"/>
          <p:cNvSpPr/>
          <p:nvPr/>
        </p:nvSpPr>
        <p:spPr>
          <a:xfrm>
            <a:off x="3895344" y="1828800"/>
            <a:ext cx="45720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4398264" y="1280160"/>
            <a:ext cx="3392424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Number badge"/>
          <p:cNvSpPr/>
          <p:nvPr/>
        </p:nvSpPr>
        <p:spPr>
          <a:xfrm>
            <a:off x="4535424" y="1417320"/>
            <a:ext cx="548640" cy="493776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angoli" pitchFamily="2" charset="0"/>
              </a:rPr>
              <a:t>2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5221224" y="14173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angoli" pitchFamily="2" charset="0"/>
              </a:rPr>
              <a:t>Players Declare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1" name="Text"/>
          <p:cNvSpPr txBox="1"/>
          <p:nvPr/>
        </p:nvSpPr>
        <p:spPr>
          <a:xfrm>
            <a:off x="4581144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Each player says what their hero attempts. Any action can be attempted.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Arrow"/>
          <p:cNvSpPr/>
          <p:nvPr/>
        </p:nvSpPr>
        <p:spPr>
          <a:xfrm>
            <a:off x="7836408" y="1828800"/>
            <a:ext cx="45720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8339328" y="1280160"/>
            <a:ext cx="3392424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Number badge"/>
          <p:cNvSpPr/>
          <p:nvPr/>
        </p:nvSpPr>
        <p:spPr>
          <a:xfrm>
            <a:off x="8476488" y="1417320"/>
            <a:ext cx="548640" cy="493776"/>
          </a:xfrm>
          <a:prstGeom prst="hexag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angoli" pitchFamily="2" charset="0"/>
              </a:rPr>
              <a:t>3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9162288" y="14173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Mangoli" pitchFamily="2" charset="0"/>
              </a:rPr>
              <a:t>The DM Narrates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6" name="Text"/>
          <p:cNvSpPr txBox="1"/>
          <p:nvPr/>
        </p:nvSpPr>
        <p:spPr>
          <a:xfrm>
            <a:off x="8522208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The DM decides the outcome, calling for a D20 Test when the result is uncertain.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7" name="Card"/>
          <p:cNvSpPr/>
          <p:nvPr/>
        </p:nvSpPr>
        <p:spPr>
          <a:xfrm>
            <a:off x="457200" y="2971800"/>
            <a:ext cx="357530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Icon badge"/>
          <p:cNvSpPr/>
          <p:nvPr/>
        </p:nvSpPr>
        <p:spPr>
          <a:xfrm>
            <a:off x="594360" y="3108960"/>
            <a:ext cx="594360" cy="534924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227832"/>
            <a:ext cx="297180" cy="29718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1325880" y="3108960"/>
            <a:ext cx="256946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Mangoli" pitchFamily="2" charset="0"/>
              </a:rPr>
              <a:t>Exploration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640080" y="379476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Travel, search, and discover the wilds, ruins, and cities of Runeterra.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4306824" y="2971800"/>
            <a:ext cx="357530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3" name="Icon badge"/>
          <p:cNvSpPr/>
          <p:nvPr/>
        </p:nvSpPr>
        <p:spPr>
          <a:xfrm>
            <a:off x="4443984" y="3108960"/>
            <a:ext cx="594360" cy="534924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574" y="3227832"/>
            <a:ext cx="297180" cy="297180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5175504" y="3108960"/>
            <a:ext cx="256946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Mangoli" pitchFamily="2" charset="0"/>
              </a:rPr>
              <a:t>Social Interaction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4489704" y="379476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Negotiate, bluff, or inspire NPCs, from Demacian nobles to Bilgewater captains.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7" name="Card"/>
          <p:cNvSpPr/>
          <p:nvPr/>
        </p:nvSpPr>
        <p:spPr>
          <a:xfrm>
            <a:off x="8156448" y="2971800"/>
            <a:ext cx="3575304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8" name="Icon badge"/>
          <p:cNvSpPr/>
          <p:nvPr/>
        </p:nvSpPr>
        <p:spPr>
          <a:xfrm>
            <a:off x="8293608" y="3108960"/>
            <a:ext cx="594360" cy="534924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198" y="3227832"/>
            <a:ext cx="297180" cy="297180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9025128" y="3108960"/>
            <a:ext cx="256946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  <a:latin typeface="Mangoli" pitchFamily="2" charset="0"/>
              </a:rPr>
              <a:t>Combat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1" name="Text"/>
          <p:cNvSpPr txBox="1"/>
          <p:nvPr/>
        </p:nvSpPr>
        <p:spPr>
          <a:xfrm>
            <a:off x="8339328" y="3794760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Fight in 6-second rounds using initiative, actions, and tactics.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2" name="Card"/>
          <p:cNvSpPr/>
          <p:nvPr/>
        </p:nvSpPr>
        <p:spPr>
          <a:xfrm>
            <a:off x="457200" y="4709160"/>
            <a:ext cx="5500116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640080" y="4800600"/>
            <a:ext cx="5134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Mangoli" pitchFamily="2" charset="0"/>
              </a:rPr>
              <a:t>Roles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4" name="Text"/>
          <p:cNvSpPr txBox="1"/>
          <p:nvPr/>
        </p:nvSpPr>
        <p:spPr>
          <a:xfrm>
            <a:off x="640080" y="5148072"/>
            <a:ext cx="5134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Players each control one hero. The DM runs the world, monsters, and rules.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5" name="Card"/>
          <p:cNvSpPr/>
          <p:nvPr/>
        </p:nvSpPr>
        <p:spPr>
          <a:xfrm>
            <a:off x="6231636" y="4709160"/>
            <a:ext cx="5500116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Text"/>
          <p:cNvSpPr txBox="1"/>
          <p:nvPr/>
        </p:nvSpPr>
        <p:spPr>
          <a:xfrm>
            <a:off x="6414516" y="4800600"/>
            <a:ext cx="5134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Mangoli" pitchFamily="2" charset="0"/>
              </a:rPr>
              <a:t>The Golden Rule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7" name="Text"/>
          <p:cNvSpPr txBox="1"/>
          <p:nvPr/>
        </p:nvSpPr>
        <p:spPr>
          <a:xfrm>
            <a:off x="6414516" y="5148072"/>
            <a:ext cx="51343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Mangoli" pitchFamily="2" charset="0"/>
              </a:rPr>
              <a:t>The Runemaster’s Say In Game is FINAL.</a:t>
            </a:r>
          </a:p>
        </p:txBody>
      </p:sp>
      <p:sp>
        <p:nvSpPr>
          <p:cNvPr id="38" name="Tip"/>
          <p:cNvSpPr/>
          <p:nvPr/>
        </p:nvSpPr>
        <p:spPr>
          <a:xfrm>
            <a:off x="457200" y="5989320"/>
            <a:ext cx="112745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algn="ctr"/>
            <a:r>
              <a:rPr lang="en-IN" sz="2600" dirty="0">
                <a:solidFill>
                  <a:srgbClr val="FFC000"/>
                </a:solidFill>
                <a:latin typeface="Mangoli" pitchFamily="2" charset="0"/>
              </a:rPr>
              <a:t>The rules build the world: the imagination breathes life into it.</a:t>
            </a:r>
            <a:endParaRPr lang="en-US" sz="2600" dirty="0">
              <a:solidFill>
                <a:srgbClr val="FFC000"/>
              </a:solidFill>
              <a:latin typeface="Mangoli" pitchFamily="2" charset="0"/>
            </a:endParaRPr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Mangoli" pitchFamily="2" charset="0"/>
              </a:rPr>
              <a:t>2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The Dice and Their Uses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4" name="Die d4" descr="Illustrated d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188720" cy="118872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566928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4"/>
                </a:solidFill>
                <a:latin typeface="Mangoli" pitchFamily="2" charset="0"/>
              </a:rPr>
              <a:t>d4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566928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Dagger, Magic Missile (1d4+1)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7" name="Card"/>
          <p:cNvSpPr/>
          <p:nvPr/>
        </p:nvSpPr>
        <p:spPr>
          <a:xfrm>
            <a:off x="2075688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8" name="Die d6" descr="Illustrated d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1417320"/>
            <a:ext cx="1188720" cy="118872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2185416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2"/>
                </a:solidFill>
                <a:latin typeface="Mangoli" pitchFamily="2" charset="0"/>
              </a:rPr>
              <a:t>d6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2185416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Shortsword, Fireball (8d6), Sneak Attack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3694176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2" name="Die d8" descr="Illustrated d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1417320"/>
            <a:ext cx="1188720" cy="118872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3803904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Mangoli" pitchFamily="2" charset="0"/>
              </a:rPr>
              <a:t>d8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14" name="Text"/>
          <p:cNvSpPr txBox="1"/>
          <p:nvPr/>
        </p:nvSpPr>
        <p:spPr>
          <a:xfrm>
            <a:off x="3803904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Longsword, Rapier, Cure Wounds (2d8)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5312664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6" name="Die d10" descr="Illustrated d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544" y="1417320"/>
            <a:ext cx="1188720" cy="11887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5422392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3"/>
                </a:solidFill>
                <a:latin typeface="Mangoli" pitchFamily="2" charset="0"/>
              </a:rPr>
              <a:t>d10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5422392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Heavy crossbow, Eldritch Blast, tens of d100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6931152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20" name="Die d12" descr="Illustrated d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1417320"/>
            <a:ext cx="1188720" cy="118872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7040880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  <a:latin typeface="Mangoli" pitchFamily="2" charset="0"/>
              </a:rPr>
              <a:t>d12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7040880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Greataxe, Barbarian hit die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8549640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24" name="Die d20" descr="Illustrated d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1417320"/>
            <a:ext cx="1188720" cy="1188720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8659368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6"/>
                </a:solidFill>
                <a:latin typeface="Mangoli" pitchFamily="2" charset="0"/>
              </a:rPr>
              <a:t>d20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8659368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Ability checks, saves, and attack rolls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7" name="Card"/>
          <p:cNvSpPr/>
          <p:nvPr/>
        </p:nvSpPr>
        <p:spPr>
          <a:xfrm>
            <a:off x="10168128" y="1280160"/>
            <a:ext cx="1554480" cy="37490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8" name="Die d100" descr="Illustrated d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1008" y="1417320"/>
            <a:ext cx="1188720" cy="118872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0277856" y="26974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2"/>
                </a:solidFill>
                <a:latin typeface="Mangoli" pitchFamily="2" charset="0"/>
              </a:rPr>
              <a:t>d100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30" name="Text"/>
          <p:cNvSpPr txBox="1"/>
          <p:nvPr/>
        </p:nvSpPr>
        <p:spPr>
          <a:xfrm>
            <a:off x="10277856" y="315468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Two d10s: random tables, wild magic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1" name="Card"/>
          <p:cNvSpPr/>
          <p:nvPr/>
        </p:nvSpPr>
        <p:spPr>
          <a:xfrm>
            <a:off x="457200" y="5212080"/>
            <a:ext cx="1127455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640080" y="52120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Hit Dice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Barbarian d12  ·  Fighter, Paladin, Ranger d10  ·  Bard, Cleric, Druid, Monk, Rogue, Warlock d8  ·  Sorcerer, Wizard d6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Dice Notation and the D20 Test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127455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731520" y="1280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accent3"/>
                </a:solidFill>
                <a:latin typeface="Mangoli" pitchFamily="2" charset="0"/>
              </a:rPr>
              <a:t>XdY + Z</a:t>
            </a:r>
            <a:endParaRPr lang="en-US" sz="30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3566160" y="12801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Roll X dice with Y sides, then add Z. For example, 2d8 + 3 means roll two eight-sided dice and add 3.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6" name="Card"/>
          <p:cNvSpPr/>
          <p:nvPr/>
        </p:nvSpPr>
        <p:spPr>
          <a:xfrm>
            <a:off x="457200" y="2240280"/>
            <a:ext cx="5545836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7" name="Icon badge"/>
          <p:cNvSpPr/>
          <p:nvPr/>
        </p:nvSpPr>
        <p:spPr>
          <a:xfrm>
            <a:off x="594360" y="2377440"/>
            <a:ext cx="640080" cy="576072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505456"/>
            <a:ext cx="320040" cy="32004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371600" y="235000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Attack Roll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1371600" y="2743200"/>
            <a:ext cx="449427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Longsword: d20 (14) + STR 3 + PB 2 = 19 vs AC 16. Hit! Damage is 1d8 + 3.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6185916" y="2240280"/>
            <a:ext cx="5545836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Icon badge"/>
          <p:cNvSpPr/>
          <p:nvPr/>
        </p:nvSpPr>
        <p:spPr>
          <a:xfrm>
            <a:off x="6323076" y="2377440"/>
            <a:ext cx="640080" cy="576072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505456"/>
            <a:ext cx="320040" cy="32004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7100316" y="235000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Ability Check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7100316" y="2743200"/>
            <a:ext cx="449427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Stealth vs DC 13: d20 (9) + DEX 3 + PB 2 = 14. Success.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6" name="Card"/>
          <p:cNvSpPr/>
          <p:nvPr/>
        </p:nvSpPr>
        <p:spPr>
          <a:xfrm>
            <a:off x="457200" y="3771900"/>
            <a:ext cx="5545836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Icon badge"/>
          <p:cNvSpPr/>
          <p:nvPr/>
        </p:nvSpPr>
        <p:spPr>
          <a:xfrm>
            <a:off x="594360" y="3909060"/>
            <a:ext cx="640080" cy="576072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037076"/>
            <a:ext cx="320040" cy="32004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1371600" y="388162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Saving Throw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1371600" y="4274820"/>
            <a:ext cx="449427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DEX save vs Fireball DC 15: d20 (12) + 2 = 14. Fail, so take 8d6 fire damage.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1" name="Card"/>
          <p:cNvSpPr/>
          <p:nvPr/>
        </p:nvSpPr>
        <p:spPr>
          <a:xfrm>
            <a:off x="6185916" y="3771900"/>
            <a:ext cx="5545836" cy="1348740"/>
          </a:xfrm>
          <a:prstGeom prst="roundRect">
            <a:avLst>
              <a:gd name="adj" fmla="val 8136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Icon badge"/>
          <p:cNvSpPr/>
          <p:nvPr/>
        </p:nvSpPr>
        <p:spPr>
          <a:xfrm>
            <a:off x="6323076" y="3909060"/>
            <a:ext cx="640080" cy="576072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037076"/>
            <a:ext cx="320040" cy="32004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7100316" y="388162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Damage Dice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5" name="Text"/>
          <p:cNvSpPr txBox="1"/>
          <p:nvPr/>
        </p:nvSpPr>
        <p:spPr>
          <a:xfrm>
            <a:off x="7100316" y="4274820"/>
            <a:ext cx="449427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3d6 + 2: roll three d6 (4, 2, 6) = 12, add 2 for 14 damage.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6" name="Card"/>
          <p:cNvSpPr/>
          <p:nvPr/>
        </p:nvSpPr>
        <p:spPr>
          <a:xfrm>
            <a:off x="457200" y="5303520"/>
            <a:ext cx="1127455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640080" y="5303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Mangoli" pitchFamily="2" charset="0"/>
              </a:rPr>
              <a:t>D20 Test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d20 + modifiers, then meet or beat the DC or AC. A natural 20 or 1 only auto-hits or misses on attack rolls.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4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Advantage and Disadvantage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44068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Chip"/>
          <p:cNvSpPr/>
          <p:nvPr/>
        </p:nvSpPr>
        <p:spPr>
          <a:xfrm>
            <a:off x="640080" y="1463040"/>
            <a:ext cx="2468880" cy="5029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ADVANTAGE</a:t>
            </a:r>
            <a:endParaRPr lang="en-US" sz="1800" dirty="0">
              <a:latin typeface="Mangoli" pitchFamily="2" charset="0"/>
            </a:endParaRPr>
          </a:p>
        </p:txBody>
      </p:sp>
      <p:pic>
        <p:nvPicPr>
          <p:cNvPr id="5" name="d20 a" descr="d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417320"/>
            <a:ext cx="822960" cy="822960"/>
          </a:xfrm>
          <a:prstGeom prst="rect">
            <a:avLst/>
          </a:prstGeom>
        </p:spPr>
      </p:pic>
      <p:pic>
        <p:nvPicPr>
          <p:cNvPr id="6" name="d20 b" descr="d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17320"/>
            <a:ext cx="822960" cy="8229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685800" y="242316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Roll: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two d20s and keep the higher one.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Sources: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Help action, attacking a Prone creature within 5 ft, being Invisible or Hidden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Example: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6 and 17, so use 17.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6291072" y="1280160"/>
            <a:ext cx="544068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9" name="Chip"/>
          <p:cNvSpPr/>
          <p:nvPr/>
        </p:nvSpPr>
        <p:spPr>
          <a:xfrm>
            <a:off x="6473952" y="1463040"/>
            <a:ext cx="2468880" cy="5029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DISADVANTAGE</a:t>
            </a:r>
            <a:endParaRPr lang="en-US" sz="1800" dirty="0">
              <a:latin typeface="Mangoli" pitchFamily="2" charset="0"/>
            </a:endParaRPr>
          </a:p>
        </p:txBody>
      </p:sp>
      <p:pic>
        <p:nvPicPr>
          <p:cNvPr id="10" name="d20 a" descr="d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417320"/>
            <a:ext cx="822960" cy="822960"/>
          </a:xfrm>
          <a:prstGeom prst="rect">
            <a:avLst/>
          </a:prstGeom>
        </p:spPr>
      </p:pic>
      <p:pic>
        <p:nvPicPr>
          <p:cNvPr id="11" name="d20 b" descr="d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1417320"/>
            <a:ext cx="822960" cy="82296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6519672" y="242316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Roll: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two d20s and keep the lower one.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Sources: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Poisoned, Frightened, attacking while Prone, ranged attack with an enemy within 5 ft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Example: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6 and 17, so use 6.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" y="4709160"/>
            <a:ext cx="54635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594360" y="4846320"/>
            <a:ext cx="640080" cy="576072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974336"/>
            <a:ext cx="320040" cy="32004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1371600" y="4818888"/>
            <a:ext cx="4411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No Stacking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1371600" y="5212080"/>
            <a:ext cx="4411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Many sources still mean one extra d20. If you have both, they cancel and you roll a single d20.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6268212" y="4709160"/>
            <a:ext cx="54635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6405372" y="4846320"/>
            <a:ext cx="640080" cy="576072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974336"/>
            <a:ext cx="320040" cy="32004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7182612" y="4818888"/>
            <a:ext cx="4411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Heroic Inspiration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7182612" y="5212080"/>
            <a:ext cx="4411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 reward for great play. Spend it to reroll any die and keep the new result.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Tip"/>
          <p:cNvSpPr/>
          <p:nvPr/>
        </p:nvSpPr>
        <p:spPr>
          <a:xfrm>
            <a:off x="457200" y="5989320"/>
            <a:ext cx="112745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Runeterra tip 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Let starlight on Mount Targon grant Advantage on one roll when heroes camp beneath the peak.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5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The Six Ability Scores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36264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685800" cy="617220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554480"/>
            <a:ext cx="342900" cy="3429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17320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Strength (STR)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40080" y="2194560"/>
            <a:ext cx="327050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Raw power. Melee attacks and damage, Athletics, carrying, and breaking things.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276344" y="1280160"/>
            <a:ext cx="3636264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4413504" y="1417320"/>
            <a:ext cx="685800" cy="617220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954" y="1554480"/>
            <a:ext cx="342900" cy="3429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236464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Dexterity (DEX)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4459224" y="2194560"/>
            <a:ext cx="327050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Agility and reflexes. Ranged attacks, AC, initiative, Stealth, and Acrobatics.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8095488" y="1280160"/>
            <a:ext cx="3636264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8232648" y="1417320"/>
            <a:ext cx="685800" cy="61722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098" y="1554480"/>
            <a:ext cx="342900" cy="34290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9055608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Constitution (CON)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8278368" y="2194560"/>
            <a:ext cx="327050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Stamina and health. Hit points, concentration saves, and resisting poison.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457200" y="3406140"/>
            <a:ext cx="3636264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594360" y="3543300"/>
            <a:ext cx="685800" cy="617220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3680460"/>
            <a:ext cx="342900" cy="34290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417320" y="354330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Intelligence (INT)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640080" y="4320540"/>
            <a:ext cx="327050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Reasoning and memory. Arcana, History, Investigation, Nature, and Religion.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4276344" y="3406140"/>
            <a:ext cx="3636264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4413504" y="3543300"/>
            <a:ext cx="685800" cy="617220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954" y="3680460"/>
            <a:ext cx="342900" cy="3429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5236464" y="354330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Wisdom (WIS)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4459224" y="4320540"/>
            <a:ext cx="327050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Awareness and intuition. Perception, Insight, Survival, and Medicine.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Card"/>
          <p:cNvSpPr/>
          <p:nvPr/>
        </p:nvSpPr>
        <p:spPr>
          <a:xfrm>
            <a:off x="8095488" y="3406140"/>
            <a:ext cx="3636264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8232648" y="3543300"/>
            <a:ext cx="685800" cy="617220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098" y="3680460"/>
            <a:ext cx="342900" cy="3429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9055608" y="354330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  <a:latin typeface="Mangoli" pitchFamily="2" charset="0"/>
              </a:rPr>
              <a:t>Charisma (CHA)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2" name="Text"/>
          <p:cNvSpPr txBox="1"/>
          <p:nvPr/>
        </p:nvSpPr>
        <p:spPr>
          <a:xfrm>
            <a:off x="8278368" y="4320540"/>
            <a:ext cx="327050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Force of personality. Persuasion, Deception, Intimidation, and Performance.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Card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40080" y="548640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Generate scores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Standard Array (15, 14, 13, 12, 10, 8), Point Buy (27 points), or 4d6 drop lowest. Background adds +2/+1 or +1/+1/+1.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6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Skills and Proficiencies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1764792" cy="3154680"/>
          </a:xfrm>
          <a:prstGeom prst="roundRect">
            <a:avLst>
              <a:gd name="adj" fmla="val 621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Chip"/>
          <p:cNvSpPr/>
          <p:nvPr/>
        </p:nvSpPr>
        <p:spPr>
          <a:xfrm>
            <a:off x="640080" y="1417320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STR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640080" y="205740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Athletics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6" name="Card"/>
          <p:cNvSpPr/>
          <p:nvPr/>
        </p:nvSpPr>
        <p:spPr>
          <a:xfrm>
            <a:off x="2359152" y="1280160"/>
            <a:ext cx="1764792" cy="3154680"/>
          </a:xfrm>
          <a:prstGeom prst="roundRect">
            <a:avLst>
              <a:gd name="adj" fmla="val 6218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Chip"/>
          <p:cNvSpPr/>
          <p:nvPr/>
        </p:nvSpPr>
        <p:spPr>
          <a:xfrm>
            <a:off x="2542032" y="1417320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DEX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2542032" y="205740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Acrobatics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Sleight of Hand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Stealth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9" name="Card"/>
          <p:cNvSpPr/>
          <p:nvPr/>
        </p:nvSpPr>
        <p:spPr>
          <a:xfrm>
            <a:off x="4261104" y="1280160"/>
            <a:ext cx="1764792" cy="3154680"/>
          </a:xfrm>
          <a:prstGeom prst="roundRect">
            <a:avLst>
              <a:gd name="adj" fmla="val 621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Chip"/>
          <p:cNvSpPr/>
          <p:nvPr/>
        </p:nvSpPr>
        <p:spPr>
          <a:xfrm>
            <a:off x="4443984" y="1417320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CON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1" name="Text"/>
          <p:cNvSpPr txBox="1"/>
          <p:nvPr/>
        </p:nvSpPr>
        <p:spPr>
          <a:xfrm>
            <a:off x="4443984" y="205740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No skills. Powers hit points and Concentration.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ard"/>
          <p:cNvSpPr/>
          <p:nvPr/>
        </p:nvSpPr>
        <p:spPr>
          <a:xfrm>
            <a:off x="6163056" y="1280160"/>
            <a:ext cx="1764792" cy="3154680"/>
          </a:xfrm>
          <a:prstGeom prst="roundRect">
            <a:avLst>
              <a:gd name="adj" fmla="val 6218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3" name="Chip"/>
          <p:cNvSpPr/>
          <p:nvPr/>
        </p:nvSpPr>
        <p:spPr>
          <a:xfrm>
            <a:off x="6345936" y="1417320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INT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4" name="Text"/>
          <p:cNvSpPr txBox="1"/>
          <p:nvPr/>
        </p:nvSpPr>
        <p:spPr>
          <a:xfrm>
            <a:off x="6345936" y="205740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Arcana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History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Investigation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Nature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Religion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8065008" y="1280160"/>
            <a:ext cx="1764792" cy="3154680"/>
          </a:xfrm>
          <a:prstGeom prst="roundRect">
            <a:avLst>
              <a:gd name="adj" fmla="val 621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6" name="Chip"/>
          <p:cNvSpPr/>
          <p:nvPr/>
        </p:nvSpPr>
        <p:spPr>
          <a:xfrm>
            <a:off x="8247888" y="1417320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WIS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8247888" y="205740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Animal Handling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Insight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Medicine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Perception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Survival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9966960" y="1280160"/>
            <a:ext cx="1764792" cy="3154680"/>
          </a:xfrm>
          <a:prstGeom prst="roundRect">
            <a:avLst>
              <a:gd name="adj" fmla="val 6218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9" name="Chip"/>
          <p:cNvSpPr/>
          <p:nvPr/>
        </p:nvSpPr>
        <p:spPr>
          <a:xfrm>
            <a:off x="10149840" y="1417320"/>
            <a:ext cx="1399032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CHA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10149840" y="2057400"/>
            <a:ext cx="1463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Deception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Intimidation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Performance</a:t>
            </a:r>
            <a:endParaRPr lang="en-US" sz="1400" dirty="0">
              <a:latin typeface="Mangoli" pitchFamily="2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Persuasion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457200" y="46177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Mangoli" pitchFamily="2" charset="0"/>
              </a:rPr>
              <a:t>Add your Proficiency Bonus (PB) once to these D20 Tests: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22" name="Chip"/>
          <p:cNvSpPr/>
          <p:nvPr/>
        </p:nvSpPr>
        <p:spPr>
          <a:xfrm>
            <a:off x="457200" y="50292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Mangoli" pitchFamily="2" charset="0"/>
              </a:rPr>
              <a:t>Skills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3" name="Chip"/>
          <p:cNvSpPr/>
          <p:nvPr/>
        </p:nvSpPr>
        <p:spPr>
          <a:xfrm>
            <a:off x="2743200" y="50292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Mangoli" pitchFamily="2" charset="0"/>
              </a:rPr>
              <a:t>Saving Throws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4" name="Chip"/>
          <p:cNvSpPr/>
          <p:nvPr/>
        </p:nvSpPr>
        <p:spPr>
          <a:xfrm>
            <a:off x="5029200" y="50292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Mangoli" pitchFamily="2" charset="0"/>
              </a:rPr>
              <a:t>Weapon Attacks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5" name="Chip"/>
          <p:cNvSpPr/>
          <p:nvPr/>
        </p:nvSpPr>
        <p:spPr>
          <a:xfrm>
            <a:off x="7315200" y="50292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Mangoli" pitchFamily="2" charset="0"/>
              </a:rPr>
              <a:t>Armor Training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6" name="Chip"/>
          <p:cNvSpPr/>
          <p:nvPr/>
        </p:nvSpPr>
        <p:spPr>
          <a:xfrm>
            <a:off x="9601200" y="50292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Mangoli" pitchFamily="2" charset="0"/>
              </a:rPr>
              <a:t>Tools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Expertise doubles PB on chosen skills. Without armor training you have Disadvantage on STR and DEX tests and cannot cast spells.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7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Modifiers and Proficiency Bonus</a:t>
            </a:r>
            <a:endParaRPr lang="en-US" sz="3600" b="0" dirty="0">
              <a:latin typeface="Mangoli" pitchFamily="2" charset="0"/>
            </a:endParaRPr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566160" cy="451713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Modifier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−5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2–3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−4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4–5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−3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6–7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−2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8–9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10–11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12–13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14–15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16–17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18–19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+4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20–21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+5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"/>
          <p:cNvSpPr txBox="1"/>
          <p:nvPr/>
        </p:nvSpPr>
        <p:spPr>
          <a:xfrm>
            <a:off x="43891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Mangoli" pitchFamily="2" charset="0"/>
              </a:rPr>
              <a:t>Proficiency Bonus by Level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5" name="Card"/>
          <p:cNvSpPr/>
          <p:nvPr/>
        </p:nvSpPr>
        <p:spPr>
          <a:xfrm>
            <a:off x="4389120" y="1783080"/>
            <a:ext cx="3474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4572000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Levels 1–4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400800" y="1783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accent2"/>
                </a:solidFill>
                <a:latin typeface="Mangoli" pitchFamily="2" charset="0"/>
              </a:rPr>
              <a:t>+2</a:t>
            </a:r>
            <a:endParaRPr lang="en-US" sz="28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389120" y="2587752"/>
            <a:ext cx="3474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4572000" y="25877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Levels 5–8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6400800" y="25877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accent3"/>
                </a:solidFill>
                <a:latin typeface="Mangoli" pitchFamily="2" charset="0"/>
              </a:rPr>
              <a:t>+3</a:t>
            </a:r>
            <a:endParaRPr lang="en-US" sz="28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4389120" y="3392424"/>
            <a:ext cx="3474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4572000" y="339242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Levels 9–12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3" name="Text"/>
          <p:cNvSpPr txBox="1"/>
          <p:nvPr/>
        </p:nvSpPr>
        <p:spPr>
          <a:xfrm>
            <a:off x="6400800" y="339242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accent4"/>
                </a:solidFill>
                <a:latin typeface="Mangoli" pitchFamily="2" charset="0"/>
              </a:rPr>
              <a:t>+4</a:t>
            </a:r>
            <a:endParaRPr lang="en-US" sz="2800" dirty="0">
              <a:latin typeface="Mangoli" pitchFamily="2" charset="0"/>
            </a:endParaRPr>
          </a:p>
        </p:txBody>
      </p:sp>
      <p:sp>
        <p:nvSpPr>
          <p:cNvPr id="14" name="Card"/>
          <p:cNvSpPr/>
          <p:nvPr/>
        </p:nvSpPr>
        <p:spPr>
          <a:xfrm>
            <a:off x="4389120" y="4197096"/>
            <a:ext cx="3474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4572000" y="41970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Levels 13–16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6" name="Text"/>
          <p:cNvSpPr txBox="1"/>
          <p:nvPr/>
        </p:nvSpPr>
        <p:spPr>
          <a:xfrm>
            <a:off x="6400800" y="419709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accent5"/>
                </a:solidFill>
                <a:latin typeface="Mangoli" pitchFamily="2" charset="0"/>
              </a:rPr>
              <a:t>+5</a:t>
            </a:r>
            <a:endParaRPr lang="en-US" sz="2800" dirty="0">
              <a:latin typeface="Mangoli" pitchFamily="2" charset="0"/>
            </a:endParaRPr>
          </a:p>
        </p:txBody>
      </p:sp>
      <p:sp>
        <p:nvSpPr>
          <p:cNvPr id="17" name="Card"/>
          <p:cNvSpPr/>
          <p:nvPr/>
        </p:nvSpPr>
        <p:spPr>
          <a:xfrm>
            <a:off x="4389120" y="5001768"/>
            <a:ext cx="3474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4572000" y="5001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Levels 17–20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9" name="Text"/>
          <p:cNvSpPr txBox="1"/>
          <p:nvPr/>
        </p:nvSpPr>
        <p:spPr>
          <a:xfrm>
            <a:off x="6400800" y="50017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accent6"/>
                </a:solidFill>
                <a:latin typeface="Mangoli" pitchFamily="2" charset="0"/>
              </a:rPr>
              <a:t>+6</a:t>
            </a:r>
            <a:endParaRPr lang="en-US" sz="2800" dirty="0">
              <a:latin typeface="Mangoli" pitchFamily="2" charset="0"/>
            </a:endParaRPr>
          </a:p>
        </p:txBody>
      </p:sp>
      <p:sp>
        <p:nvSpPr>
          <p:cNvPr id="20" name="Card"/>
          <p:cNvSpPr/>
          <p:nvPr/>
        </p:nvSpPr>
        <p:spPr>
          <a:xfrm>
            <a:off x="8229600" y="1280160"/>
            <a:ext cx="35021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841248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  <a:latin typeface="Mangoli" pitchFamily="2" charset="0"/>
              </a:rPr>
              <a:t>Modifier Formula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841248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Mangoli" pitchFamily="2" charset="0"/>
              </a:rPr>
              <a:t>(Score − 10) ÷ 2, rounded down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84124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Example: STR 16 gives +3.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4" name="Card"/>
          <p:cNvSpPr/>
          <p:nvPr/>
        </p:nvSpPr>
        <p:spPr>
          <a:xfrm>
            <a:off x="8229600" y="3657600"/>
            <a:ext cx="350215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841248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  <a:latin typeface="Mangoli" pitchFamily="2" charset="0"/>
              </a:rPr>
              <a:t>Putting It Together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8412480" y="42062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Level 5 Paladin, STR 16 (+3), PB +3: attack bonus is +6, and a CHA +3 spell DC is 8 + 3 + 3 = 14.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8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Ability Checks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Text"/>
          <p:cNvSpPr txBox="1"/>
          <p:nvPr/>
        </p:nvSpPr>
        <p:spPr>
          <a:xfrm>
            <a:off x="457200" y="1325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Very Easy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4" name="DC bar"/>
          <p:cNvSpPr/>
          <p:nvPr/>
        </p:nvSpPr>
        <p:spPr>
          <a:xfrm>
            <a:off x="3017520" y="1325880"/>
            <a:ext cx="14478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DC 5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457200" y="20391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Easy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6" name="DC bar"/>
          <p:cNvSpPr/>
          <p:nvPr/>
        </p:nvSpPr>
        <p:spPr>
          <a:xfrm>
            <a:off x="3017520" y="2039112"/>
            <a:ext cx="188976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DC 10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457200" y="27523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Medium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8" name="DC bar"/>
          <p:cNvSpPr/>
          <p:nvPr/>
        </p:nvSpPr>
        <p:spPr>
          <a:xfrm>
            <a:off x="3017520" y="2752344"/>
            <a:ext cx="2331720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DC 15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9" name="Text"/>
          <p:cNvSpPr txBox="1"/>
          <p:nvPr/>
        </p:nvSpPr>
        <p:spPr>
          <a:xfrm>
            <a:off x="457200" y="34655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Hard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0" name="DC bar"/>
          <p:cNvSpPr/>
          <p:nvPr/>
        </p:nvSpPr>
        <p:spPr>
          <a:xfrm>
            <a:off x="3017520" y="3465576"/>
            <a:ext cx="2773680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DC 20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1" name="Text"/>
          <p:cNvSpPr txBox="1"/>
          <p:nvPr/>
        </p:nvSpPr>
        <p:spPr>
          <a:xfrm>
            <a:off x="457200" y="4178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Very Hard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2" name="DC bar"/>
          <p:cNvSpPr/>
          <p:nvPr/>
        </p:nvSpPr>
        <p:spPr>
          <a:xfrm>
            <a:off x="3017520" y="4178808"/>
            <a:ext cx="3215640" cy="566928"/>
          </a:xfrm>
          <a:prstGeom prst="roundRect">
            <a:avLst>
              <a:gd name="adj" fmla="val 16129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DC 25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3" name="Text"/>
          <p:cNvSpPr txBox="1"/>
          <p:nvPr/>
        </p:nvSpPr>
        <p:spPr>
          <a:xfrm>
            <a:off x="457200" y="48920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Nearly Impossible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4" name="DC bar"/>
          <p:cNvSpPr/>
          <p:nvPr/>
        </p:nvSpPr>
        <p:spPr>
          <a:xfrm>
            <a:off x="3017520" y="4892040"/>
            <a:ext cx="36576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DC 30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6858000" y="1280160"/>
            <a:ext cx="4873752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7040880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Mangoli" pitchFamily="2" charset="0"/>
              </a:rPr>
              <a:t>How a Check Works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7040880" y="182880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Roll: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d20 + ability modifier + PB if proficient.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Contest: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both roll; higher wins, ties change nothing.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Passive: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10 + modifiers (±5 for Advantage or Disadvantage).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Group: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succeeds if at least half the group does.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Help: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an ally’s Help action grants Advantage.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6858000" y="4297680"/>
            <a:ext cx="487375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7040880" y="43891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Example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Mira (DEX +3, PB +2, Stealth proficient) sneaks past Noxian guards at DC 15: d20 (11) + 5 = 16. Success!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0" name="Tip"/>
          <p:cNvSpPr/>
          <p:nvPr/>
        </p:nvSpPr>
        <p:spPr>
          <a:xfrm>
            <a:off x="457200" y="5989320"/>
            <a:ext cx="112745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DM tip 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Set the DC first, then ask for a roll. If success or failure is certain, skip the dice.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9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Saving Throws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36264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548640" cy="493776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27048"/>
            <a:ext cx="274320" cy="27432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280160" y="1417320"/>
            <a:ext cx="2676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Strength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40080" y="2057400"/>
            <a:ext cx="32705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Resist being pushed, grappled, or restrained by force.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276344" y="1280160"/>
            <a:ext cx="3636264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4413504" y="1417320"/>
            <a:ext cx="548640" cy="493776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664" y="1527048"/>
            <a:ext cx="274320" cy="27432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099304" y="1417320"/>
            <a:ext cx="2676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Dexterity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4459224" y="2057400"/>
            <a:ext cx="32705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Dodge a Fireball, trap, or breath weapon for half damage.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8095488" y="1280160"/>
            <a:ext cx="3636264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8232648" y="1417320"/>
            <a:ext cx="548640" cy="493776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808" y="1527048"/>
            <a:ext cx="274320" cy="27432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918448" y="1417320"/>
            <a:ext cx="2676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Constitution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8278368" y="2057400"/>
            <a:ext cx="32705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Endure poison, disease, and cold. Keeps Concentration.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457200" y="2994660"/>
            <a:ext cx="3636264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594360" y="3131820"/>
            <a:ext cx="548640" cy="493776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41548"/>
            <a:ext cx="274320" cy="27432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280160" y="3131820"/>
            <a:ext cx="2676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Intelligence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640080" y="3771900"/>
            <a:ext cx="32705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Shake off mind blasts and certain illusions.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4276344" y="2994660"/>
            <a:ext cx="3636264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4413504" y="3131820"/>
            <a:ext cx="548640" cy="493776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664" y="3241548"/>
            <a:ext cx="274320" cy="27432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5099304" y="3131820"/>
            <a:ext cx="2676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Wisdom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4459224" y="3771900"/>
            <a:ext cx="32705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Resist charm, fear, and Hold Person-style control.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Card"/>
          <p:cNvSpPr/>
          <p:nvPr/>
        </p:nvSpPr>
        <p:spPr>
          <a:xfrm>
            <a:off x="8095488" y="2994660"/>
            <a:ext cx="3636264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8232648" y="3131820"/>
            <a:ext cx="548640" cy="493776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808" y="3241548"/>
            <a:ext cx="274320" cy="27432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8918448" y="3131820"/>
            <a:ext cx="26761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  <a:latin typeface="Mangoli" pitchFamily="2" charset="0"/>
              </a:rPr>
              <a:t>Charisma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2" name="Text"/>
          <p:cNvSpPr txBox="1"/>
          <p:nvPr/>
        </p:nvSpPr>
        <p:spPr>
          <a:xfrm>
            <a:off x="8278368" y="3771900"/>
            <a:ext cx="327050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Resist banishment, possession, and force-of-will effects.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Card"/>
          <p:cNvSpPr/>
          <p:nvPr/>
        </p:nvSpPr>
        <p:spPr>
          <a:xfrm>
            <a:off x="457200" y="4709160"/>
            <a:ext cx="1127455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40080" y="470916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Mangoli" pitchFamily="2" charset="0"/>
              </a:rPr>
              <a:t>Save  </a:t>
            </a:r>
            <a:r>
              <a:rPr lang="en-US" sz="2000" dirty="0">
                <a:solidFill>
                  <a:schemeClr val="tx1"/>
                </a:solidFill>
                <a:latin typeface="Mangoli" pitchFamily="2" charset="0"/>
              </a:rPr>
              <a:t>d20 + ability modifier + PB (if proficient in that save) vs the effect’s DC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35" name="Text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Every class is proficient in two saves. Death saves are special: a plain d20 with no modifiers.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10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Hit Points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3626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685800" cy="617220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554480"/>
            <a:ext cx="342900" cy="3429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17320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Maximum HP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40080" y="219456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Level 1: highest die value + CON modifier. Each level: roll or take the average, plus CON.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276344" y="1280160"/>
            <a:ext cx="363626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4413504" y="1417320"/>
            <a:ext cx="685800" cy="617220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954" y="1554480"/>
            <a:ext cx="342900" cy="3429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236464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Hit Point Dice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4459224" y="219456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One die per level. Spend them on a Short Rest to heal (roll + CON modifier).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8095488" y="1280160"/>
            <a:ext cx="363626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8232648" y="1417320"/>
            <a:ext cx="685800" cy="617220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098" y="1554480"/>
            <a:ext cx="342900" cy="34290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9055608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  <a:latin typeface="Mangoli" pitchFamily="2" charset="0"/>
              </a:rPr>
              <a:t>Temporary HP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8278368" y="219456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Absorbed first. Never stacks (keep the higher), cannot be healed, ends after a Long Rest.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457200" y="3611880"/>
            <a:ext cx="363626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594360" y="3749040"/>
            <a:ext cx="685800" cy="617220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3886200"/>
            <a:ext cx="342900" cy="34290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417320" y="374904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Taking Damage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640080" y="452628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Subtract it from current HP. Current HP can never fall below 0.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4276344" y="3611880"/>
            <a:ext cx="363626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4413504" y="3749040"/>
            <a:ext cx="685800" cy="617220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954" y="3886200"/>
            <a:ext cx="342900" cy="3429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5236464" y="374904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Healing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4459224" y="452628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Restores current HP up to your maximum. Does not restore temporary HP.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Card"/>
          <p:cNvSpPr/>
          <p:nvPr/>
        </p:nvSpPr>
        <p:spPr>
          <a:xfrm>
            <a:off x="8095488" y="3611880"/>
            <a:ext cx="3636264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8232648" y="3749040"/>
            <a:ext cx="685800" cy="61722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098" y="3886200"/>
            <a:ext cx="342900" cy="3429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9055608" y="374904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Average Rolls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2" name="Text"/>
          <p:cNvSpPr txBox="1"/>
          <p:nvPr/>
        </p:nvSpPr>
        <p:spPr>
          <a:xfrm>
            <a:off x="8278368" y="452628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d6 = 4, d8 = 5, d10 = 6, d12 = 7 per level, plus your CON modifier.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Tip"/>
          <p:cNvSpPr/>
          <p:nvPr/>
        </p:nvSpPr>
        <p:spPr>
          <a:xfrm>
            <a:off x="457200" y="5989320"/>
            <a:ext cx="112745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Runeterra tip 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Hextech potions heal 2d4 + 2 HP, while Zaun’s Shimmer could grant temporary HP with nasty side effects.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11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Armor Class</a:t>
            </a:r>
            <a:endParaRPr lang="en-US" sz="3600" b="0" dirty="0">
              <a:latin typeface="Mangoli" pitchFamily="2" charset="0"/>
            </a:endParaRPr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223760" cy="427939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Armor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Leather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 + DEX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Studded Leather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+ DEX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Chain Shirt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 + DEX (max 2)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Breastplate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 + DEX (max 2)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Half Plate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+ DEX (max 2)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Stealth Disadv.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Chain Mail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Heavy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 13, Stealth Disadv.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Plate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Heavy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 15, Stealth Disadv.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Shield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action to don or doff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7955280" y="1280160"/>
            <a:ext cx="3776472" cy="1040130"/>
          </a:xfrm>
          <a:prstGeom prst="roundRect">
            <a:avLst>
              <a:gd name="adj" fmla="val 1054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8138160" y="137160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Base AC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8138160" y="1719072"/>
            <a:ext cx="341071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Unarmored AC is 10 + DEX modifier.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7" name="Card"/>
          <p:cNvSpPr/>
          <p:nvPr/>
        </p:nvSpPr>
        <p:spPr>
          <a:xfrm>
            <a:off x="7955280" y="2457450"/>
            <a:ext cx="3776472" cy="1040130"/>
          </a:xfrm>
          <a:prstGeom prst="roundRect">
            <a:avLst>
              <a:gd name="adj" fmla="val 1054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8138160" y="254889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Unarmored Defense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9" name="Text"/>
          <p:cNvSpPr txBox="1"/>
          <p:nvPr/>
        </p:nvSpPr>
        <p:spPr>
          <a:xfrm>
            <a:off x="8138160" y="2896362"/>
            <a:ext cx="341071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Barbarian: 10 + DEX + CON. Monk: 10 + DEX + WIS.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0" name="Card"/>
          <p:cNvSpPr/>
          <p:nvPr/>
        </p:nvSpPr>
        <p:spPr>
          <a:xfrm>
            <a:off x="7955280" y="3634740"/>
            <a:ext cx="3776472" cy="1040130"/>
          </a:xfrm>
          <a:prstGeom prst="roundRect">
            <a:avLst>
              <a:gd name="adj" fmla="val 10549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138160" y="372618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Training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8138160" y="4073652"/>
            <a:ext cx="341071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No armor training: Disadvantage on STR and DEX tests, no spellcasting.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7955280" y="4812030"/>
            <a:ext cx="3776472" cy="1040130"/>
          </a:xfrm>
          <a:prstGeom prst="roundRect">
            <a:avLst>
              <a:gd name="adj" fmla="val 1054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8138160" y="490347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Donning Armor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8138160" y="5250942"/>
            <a:ext cx="3410712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Light 1 minute, Medium 5 minutes, Heavy 10 minutes.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12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Movement and Environment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640080" y="1417320"/>
            <a:ext cx="640080" cy="576072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45336"/>
            <a:ext cx="320040" cy="32004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141732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  <a:latin typeface="Mangoli" pitchFamily="2" charset="0"/>
              </a:rPr>
              <a:t>MOVEMENT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85800" y="224028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Speed: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30 ft is typical; split it before and after your action.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Difficult terrain: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each foot costs 1 extra foot.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Climb, swim, crawl: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1 extra foot per foot without that speed.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Stand from Prone: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costs half your Speed.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Long jump: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STR score in feet with a 10 ft run-up, else half.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High jump: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3 + STR modifier feet with a run-up.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6291072" y="128016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6473952" y="1417320"/>
            <a:ext cx="640080" cy="576072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1545336"/>
            <a:ext cx="320040" cy="32004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7296912" y="1417320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3"/>
                </a:solidFill>
                <a:latin typeface="Mangoli" pitchFamily="2" charset="0"/>
              </a:rPr>
              <a:t>ENVIRONMENT</a:t>
            </a:r>
            <a:endParaRPr lang="en-US" sz="22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6519672" y="224028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Light: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Bright, Dim (Disadvantage on sight Perception), Darkness (effectively Blinded).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Darkvision: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treats darkness as dim within its range.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Falling: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1d6 bludgeoning per 10 ft (max 20d6); land Prone.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Suffocating: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hold breath 1 + CON modifier minutes (min 30 seconds).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Extreme heat or cold: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CON saves or gain Exhaustion.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13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Combat: Roll Initiative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40080" y="1463040"/>
            <a:ext cx="594360" cy="534924"/>
          </a:xfrm>
          <a:prstGeom prst="hexag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Mangoli" pitchFamily="2" charset="0"/>
              </a:rPr>
              <a:t>1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14630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Check for Surprise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1463040" y="1755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Surprised creatures have Disadvantage on their initiative roll.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7" name="Card"/>
          <p:cNvSpPr/>
          <p:nvPr/>
        </p:nvSpPr>
        <p:spPr>
          <a:xfrm>
            <a:off x="457200" y="242316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Number badge"/>
          <p:cNvSpPr/>
          <p:nvPr/>
        </p:nvSpPr>
        <p:spPr>
          <a:xfrm>
            <a:off x="640080" y="2606040"/>
            <a:ext cx="594360" cy="534924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Mangoli" pitchFamily="2" charset="0"/>
              </a:rPr>
              <a:t>2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9" name="Text"/>
          <p:cNvSpPr txBox="1"/>
          <p:nvPr/>
        </p:nvSpPr>
        <p:spPr>
          <a:xfrm>
            <a:off x="146304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Roll Initiative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1463040" y="2898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d20 + DEX modifier. The DM rolls once per monster group.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457200" y="356616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2" name="Number badge"/>
          <p:cNvSpPr/>
          <p:nvPr/>
        </p:nvSpPr>
        <p:spPr>
          <a:xfrm>
            <a:off x="640080" y="3749040"/>
            <a:ext cx="594360" cy="534924"/>
          </a:xfrm>
          <a:prstGeom prst="hexag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Mangoli" pitchFamily="2" charset="0"/>
              </a:rPr>
              <a:t>3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13" name="Text"/>
          <p:cNvSpPr txBox="1"/>
          <p:nvPr/>
        </p:nvSpPr>
        <p:spPr>
          <a:xfrm>
            <a:off x="146304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Take Turns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4" name="Text"/>
          <p:cNvSpPr txBox="1"/>
          <p:nvPr/>
        </p:nvSpPr>
        <p:spPr>
          <a:xfrm>
            <a:off x="1463040" y="4041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Highest to lowest. Ties: players choose; the DM decides for monsters.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457200" y="4709160"/>
            <a:ext cx="5852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Number badge"/>
          <p:cNvSpPr/>
          <p:nvPr/>
        </p:nvSpPr>
        <p:spPr>
          <a:xfrm>
            <a:off x="640080" y="4892040"/>
            <a:ext cx="594360" cy="534924"/>
          </a:xfrm>
          <a:prstGeom prst="hexagon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Mangoli" pitchFamily="2" charset="0"/>
              </a:rPr>
              <a:t>4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146304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Repeat Rounds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1463040" y="5184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Each round is 6 </a:t>
            </a:r>
            <a:r>
              <a:rPr lang="en-US" sz="1400" dirty="0">
                <a:latin typeface="Mangoli" pitchFamily="2" charset="0"/>
              </a:rPr>
              <a:t>seconds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. Combat ends when one side yields or falls.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6675120" y="1280160"/>
            <a:ext cx="5056632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690372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Mangoli" pitchFamily="2" charset="0"/>
              </a:rPr>
              <a:t>Example Initiative Tracker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21" name="Card"/>
          <p:cNvSpPr/>
          <p:nvPr/>
        </p:nvSpPr>
        <p:spPr>
          <a:xfrm>
            <a:off x="6903720" y="1920240"/>
            <a:ext cx="459943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7086600" y="1920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Demacian Paladin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3" name="Chip"/>
          <p:cNvSpPr/>
          <p:nvPr/>
        </p:nvSpPr>
        <p:spPr>
          <a:xfrm>
            <a:off x="10469880" y="2011680"/>
            <a:ext cx="868680" cy="4114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21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4" name="Card"/>
          <p:cNvSpPr/>
          <p:nvPr/>
        </p:nvSpPr>
        <p:spPr>
          <a:xfrm>
            <a:off x="6903720" y="2651760"/>
            <a:ext cx="459943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7086600" y="2651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Targon Cleric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6" name="Chip"/>
          <p:cNvSpPr/>
          <p:nvPr/>
        </p:nvSpPr>
        <p:spPr>
          <a:xfrm>
            <a:off x="10469880" y="2743200"/>
            <a:ext cx="868680" cy="4114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17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7" name="Card"/>
          <p:cNvSpPr/>
          <p:nvPr/>
        </p:nvSpPr>
        <p:spPr>
          <a:xfrm>
            <a:off x="6903720" y="3383280"/>
            <a:ext cx="459943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7086600" y="3383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Noxian Raiders (x3)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29" name="Chip"/>
          <p:cNvSpPr/>
          <p:nvPr/>
        </p:nvSpPr>
        <p:spPr>
          <a:xfrm>
            <a:off x="10469880" y="3474720"/>
            <a:ext cx="868680" cy="4114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14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0" name="Card"/>
          <p:cNvSpPr/>
          <p:nvPr/>
        </p:nvSpPr>
        <p:spPr>
          <a:xfrm>
            <a:off x="6903720" y="4114800"/>
            <a:ext cx="459943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7086600" y="4114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Bilgewater Ranger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32" name="Chip"/>
          <p:cNvSpPr/>
          <p:nvPr/>
        </p:nvSpPr>
        <p:spPr>
          <a:xfrm>
            <a:off x="10469880" y="4206240"/>
            <a:ext cx="86868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11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3" name="Card"/>
          <p:cNvSpPr/>
          <p:nvPr/>
        </p:nvSpPr>
        <p:spPr>
          <a:xfrm>
            <a:off x="6903720" y="4846320"/>
            <a:ext cx="4599432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708660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Hexdrake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35" name="Chip"/>
          <p:cNvSpPr/>
          <p:nvPr/>
        </p:nvSpPr>
        <p:spPr>
          <a:xfrm>
            <a:off x="10469880" y="4937760"/>
            <a:ext cx="868680" cy="4114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6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14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Combat: Your Turn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130552" cy="3429000"/>
          </a:xfrm>
          <a:prstGeom prst="roundRect">
            <a:avLst>
              <a:gd name="adj" fmla="val 515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777240" cy="699516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72768"/>
            <a:ext cx="388620" cy="38862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59436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Move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594360" y="292608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Up to your Speed, split before or after your action.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2743200" y="1280160"/>
            <a:ext cx="2130552" cy="3429000"/>
          </a:xfrm>
          <a:prstGeom prst="roundRect">
            <a:avLst>
              <a:gd name="adj" fmla="val 515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2880360" y="1417320"/>
            <a:ext cx="777240" cy="699516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670" y="1572768"/>
            <a:ext cx="388620" cy="38862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288036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Action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2880360" y="292608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One per turn: Attack, Magic, Dash, Dodge, and more.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5029200" y="1280160"/>
            <a:ext cx="2130552" cy="3429000"/>
          </a:xfrm>
          <a:prstGeom prst="roundRect">
            <a:avLst>
              <a:gd name="adj" fmla="val 515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5166360" y="1417320"/>
            <a:ext cx="777240" cy="699516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0670" y="1572768"/>
            <a:ext cx="388620" cy="38862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516636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Bonus Action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5166360" y="292608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Only if a feature or spell grants one. Maximum one per turn.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7315200" y="1280160"/>
            <a:ext cx="2130552" cy="3429000"/>
          </a:xfrm>
          <a:prstGeom prst="roundRect">
            <a:avLst>
              <a:gd name="adj" fmla="val 515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7452360" y="1417320"/>
            <a:ext cx="777240" cy="699516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670" y="1572768"/>
            <a:ext cx="388620" cy="38862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745236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Reaction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7452360" y="292608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One per round, on a trigger such as an Opportunity Attack.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9601200" y="1280160"/>
            <a:ext cx="2130552" cy="3429000"/>
          </a:xfrm>
          <a:prstGeom prst="roundRect">
            <a:avLst>
              <a:gd name="adj" fmla="val 515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9738360" y="1417320"/>
            <a:ext cx="777240" cy="699516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2670" y="1572768"/>
            <a:ext cx="388620" cy="38862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973836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Free Interaction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9738360" y="292608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One object use per turn, like drawing a weapon, plus brief speech.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Card"/>
          <p:cNvSpPr/>
          <p:nvPr/>
        </p:nvSpPr>
        <p:spPr>
          <a:xfrm>
            <a:off x="457200" y="4892040"/>
            <a:ext cx="1127455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640080" y="4892040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Mangoli" pitchFamily="2" charset="0"/>
              </a:rPr>
              <a:t>Any order  </a:t>
            </a: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You can move, act, and use a Bonus Action in whatever order you like, but each only once. Your Reaction refreshes at the start of your next turn.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15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Actions in Combat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457200" cy="411480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08760"/>
            <a:ext cx="228600" cy="2286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188720" y="1417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Attack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40080" y="196596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Make one melee or ranged attack, or an unarmed strike.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3310128" y="128016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3447288" y="1417320"/>
            <a:ext cx="457200" cy="411480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8" y="1508760"/>
            <a:ext cx="228600" cy="228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4041648" y="1417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Dash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3493008" y="196596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Gain extra movement equal to your Speed.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6163056" y="128016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6300216" y="1417320"/>
            <a:ext cx="457200" cy="41148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1508760"/>
            <a:ext cx="228600" cy="22860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6894576" y="1417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Disengage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6345936" y="196596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Your movement avoids Opportunity Attacks.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9015984" y="128016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9153144" y="1417320"/>
            <a:ext cx="457200" cy="411480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444" y="1508760"/>
            <a:ext cx="228600" cy="22860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9747504" y="1417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Dodge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9198864" y="196596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Attacks vs you have Disadvantage; Advantage on DEX saves.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457200" y="284988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594360" y="2987040"/>
            <a:ext cx="457200" cy="411480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078480"/>
            <a:ext cx="228600" cy="2286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1188720" y="29870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Help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640080" y="353568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Give an ally Advantage on a check or attack.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Card"/>
          <p:cNvSpPr/>
          <p:nvPr/>
        </p:nvSpPr>
        <p:spPr>
          <a:xfrm>
            <a:off x="3310128" y="284988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3447288" y="2987040"/>
            <a:ext cx="457200" cy="411480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1588" y="3078480"/>
            <a:ext cx="228600" cy="2286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4041648" y="29870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  <a:latin typeface="Mangoli" pitchFamily="2" charset="0"/>
              </a:rPr>
              <a:t>Hide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2" name="Text"/>
          <p:cNvSpPr txBox="1"/>
          <p:nvPr/>
        </p:nvSpPr>
        <p:spPr>
          <a:xfrm>
            <a:off x="3493008" y="353568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DC 15 DEX (Stealth) while obscured to become Invisible.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Card"/>
          <p:cNvSpPr/>
          <p:nvPr/>
        </p:nvSpPr>
        <p:spPr>
          <a:xfrm>
            <a:off x="6163056" y="284988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Icon badge"/>
          <p:cNvSpPr/>
          <p:nvPr/>
        </p:nvSpPr>
        <p:spPr>
          <a:xfrm>
            <a:off x="6300216" y="2987040"/>
            <a:ext cx="457200" cy="411480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4516" y="3078480"/>
            <a:ext cx="228600" cy="22860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6894576" y="29870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Influence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7" name="Text"/>
          <p:cNvSpPr txBox="1"/>
          <p:nvPr/>
        </p:nvSpPr>
        <p:spPr>
          <a:xfrm>
            <a:off x="6345936" y="353568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CHA or WIS (Animal Handling) check to sway a creature.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8" name="Card"/>
          <p:cNvSpPr/>
          <p:nvPr/>
        </p:nvSpPr>
        <p:spPr>
          <a:xfrm>
            <a:off x="9015984" y="284988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Icon badge"/>
          <p:cNvSpPr/>
          <p:nvPr/>
        </p:nvSpPr>
        <p:spPr>
          <a:xfrm>
            <a:off x="9153144" y="2987040"/>
            <a:ext cx="457200" cy="411480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Icon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7444" y="3078480"/>
            <a:ext cx="228600" cy="228600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9747504" y="298704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Magic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42" name="Text"/>
          <p:cNvSpPr txBox="1"/>
          <p:nvPr/>
        </p:nvSpPr>
        <p:spPr>
          <a:xfrm>
            <a:off x="9198864" y="353568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Cast a spell or use a magic item.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43" name="Card"/>
          <p:cNvSpPr/>
          <p:nvPr/>
        </p:nvSpPr>
        <p:spPr>
          <a:xfrm>
            <a:off x="457200" y="441960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4" name="Icon badge"/>
          <p:cNvSpPr/>
          <p:nvPr/>
        </p:nvSpPr>
        <p:spPr>
          <a:xfrm>
            <a:off x="594360" y="4556760"/>
            <a:ext cx="457200" cy="41148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Icon" descr="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" y="4648200"/>
            <a:ext cx="228600" cy="228600"/>
          </a:xfrm>
          <a:prstGeom prst="rect">
            <a:avLst/>
          </a:prstGeom>
        </p:spPr>
      </p:pic>
      <p:sp>
        <p:nvSpPr>
          <p:cNvPr id="46" name="Text"/>
          <p:cNvSpPr txBox="1"/>
          <p:nvPr/>
        </p:nvSpPr>
        <p:spPr>
          <a:xfrm>
            <a:off x="1188720" y="45567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Ready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47" name="Text"/>
          <p:cNvSpPr txBox="1"/>
          <p:nvPr/>
        </p:nvSpPr>
        <p:spPr>
          <a:xfrm>
            <a:off x="640080" y="510540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Prepare an action with a trigger; uses your Reaction.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48" name="Card"/>
          <p:cNvSpPr/>
          <p:nvPr/>
        </p:nvSpPr>
        <p:spPr>
          <a:xfrm>
            <a:off x="3310128" y="441960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9" name="Icon badge"/>
          <p:cNvSpPr/>
          <p:nvPr/>
        </p:nvSpPr>
        <p:spPr>
          <a:xfrm>
            <a:off x="3447288" y="4556760"/>
            <a:ext cx="457200" cy="411480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0" name="Icon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1588" y="4648200"/>
            <a:ext cx="228600" cy="228600"/>
          </a:xfrm>
          <a:prstGeom prst="rect">
            <a:avLst/>
          </a:prstGeom>
        </p:spPr>
      </p:pic>
      <p:sp>
        <p:nvSpPr>
          <p:cNvPr id="51" name="Text"/>
          <p:cNvSpPr txBox="1"/>
          <p:nvPr/>
        </p:nvSpPr>
        <p:spPr>
          <a:xfrm>
            <a:off x="4041648" y="45567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Search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52" name="Text"/>
          <p:cNvSpPr txBox="1"/>
          <p:nvPr/>
        </p:nvSpPr>
        <p:spPr>
          <a:xfrm>
            <a:off x="3493008" y="510540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WIS check: Perception, Insight, Medicine, or Survival.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53" name="Card"/>
          <p:cNvSpPr/>
          <p:nvPr/>
        </p:nvSpPr>
        <p:spPr>
          <a:xfrm>
            <a:off x="6163056" y="441960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4" name="Icon badge"/>
          <p:cNvSpPr/>
          <p:nvPr/>
        </p:nvSpPr>
        <p:spPr>
          <a:xfrm>
            <a:off x="6300216" y="4556760"/>
            <a:ext cx="457200" cy="411480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5" name="Icon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4516" y="4648200"/>
            <a:ext cx="228600" cy="228600"/>
          </a:xfrm>
          <a:prstGeom prst="rect">
            <a:avLst/>
          </a:prstGeom>
        </p:spPr>
      </p:pic>
      <p:sp>
        <p:nvSpPr>
          <p:cNvPr id="56" name="Text"/>
          <p:cNvSpPr txBox="1"/>
          <p:nvPr/>
        </p:nvSpPr>
        <p:spPr>
          <a:xfrm>
            <a:off x="6894576" y="45567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Study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57" name="Text"/>
          <p:cNvSpPr txBox="1"/>
          <p:nvPr/>
        </p:nvSpPr>
        <p:spPr>
          <a:xfrm>
            <a:off x="6345936" y="510540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INT check: Arcana, History, Investigation, Nature, Religion.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58" name="Card"/>
          <p:cNvSpPr/>
          <p:nvPr/>
        </p:nvSpPr>
        <p:spPr>
          <a:xfrm>
            <a:off x="9015984" y="4419600"/>
            <a:ext cx="2715768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9" name="Icon badge"/>
          <p:cNvSpPr/>
          <p:nvPr/>
        </p:nvSpPr>
        <p:spPr>
          <a:xfrm>
            <a:off x="9153144" y="4556760"/>
            <a:ext cx="457200" cy="411480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0" name="Icon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7444" y="4648200"/>
            <a:ext cx="228600" cy="228600"/>
          </a:xfrm>
          <a:prstGeom prst="rect">
            <a:avLst/>
          </a:prstGeom>
        </p:spPr>
      </p:pic>
      <p:sp>
        <p:nvSpPr>
          <p:cNvPr id="61" name="Text"/>
          <p:cNvSpPr txBox="1"/>
          <p:nvPr/>
        </p:nvSpPr>
        <p:spPr>
          <a:xfrm>
            <a:off x="9747504" y="45567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  <a:latin typeface="Mangoli" pitchFamily="2" charset="0"/>
              </a:rPr>
              <a:t>Utilize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62" name="Text"/>
          <p:cNvSpPr txBox="1"/>
          <p:nvPr/>
        </p:nvSpPr>
        <p:spPr>
          <a:xfrm>
            <a:off x="9198864" y="5105400"/>
            <a:ext cx="23500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Use a nonmagical object, such as a lock or torch.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16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Combat: Attacks and Damage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hip"/>
          <p:cNvSpPr/>
          <p:nvPr/>
        </p:nvSpPr>
        <p:spPr>
          <a:xfrm>
            <a:off x="457200" y="1280160"/>
            <a:ext cx="1188720" cy="685800"/>
          </a:xfrm>
          <a:prstGeom prst="roundRect">
            <a:avLst>
              <a:gd name="adj" fmla="val 4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  <a:latin typeface="Mangoli" pitchFamily="2" charset="0"/>
              </a:rPr>
              <a:t>d20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1645920" y="12801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latin typeface="Mangoli" pitchFamily="2" charset="0"/>
              </a:rPr>
              <a:t>+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5" name="Chip"/>
          <p:cNvSpPr/>
          <p:nvPr/>
        </p:nvSpPr>
        <p:spPr>
          <a:xfrm>
            <a:off x="2011680" y="1280160"/>
            <a:ext cx="2468880" cy="6858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  <a:latin typeface="Mangoli" pitchFamily="2" charset="0"/>
              </a:rPr>
              <a:t>Ability modifier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4480560" y="12801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latin typeface="Mangoli" pitchFamily="2" charset="0"/>
              </a:rPr>
              <a:t>+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7" name="Chip"/>
          <p:cNvSpPr/>
          <p:nvPr/>
        </p:nvSpPr>
        <p:spPr>
          <a:xfrm>
            <a:off x="4846320" y="1280160"/>
            <a:ext cx="2286000" cy="68580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  <a:latin typeface="Mangoli" pitchFamily="2" charset="0"/>
              </a:rPr>
              <a:t>PB (if proficient)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7132320" y="12801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latin typeface="Mangoli" pitchFamily="2" charset="0"/>
              </a:rPr>
              <a:t>≥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7498080" y="1280160"/>
            <a:ext cx="1737360" cy="68580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  <a:latin typeface="Mangoli" pitchFamily="2" charset="0"/>
              </a:rPr>
              <a:t>Target AC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9235440" y="12801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/>
                </a:solidFill>
                <a:latin typeface="Mangoli" pitchFamily="2" charset="0"/>
              </a:rPr>
              <a:t>=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11" name="Chip"/>
          <p:cNvSpPr/>
          <p:nvPr/>
        </p:nvSpPr>
        <p:spPr>
          <a:xfrm>
            <a:off x="9601200" y="1280160"/>
            <a:ext cx="914400" cy="6858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  <a:latin typeface="Mangoli" pitchFamily="2" charset="0"/>
              </a:rPr>
              <a:t>HIT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Card"/>
          <p:cNvSpPr/>
          <p:nvPr/>
        </p:nvSpPr>
        <p:spPr>
          <a:xfrm>
            <a:off x="457200" y="2286000"/>
            <a:ext cx="554583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Icon badge"/>
          <p:cNvSpPr/>
          <p:nvPr/>
        </p:nvSpPr>
        <p:spPr>
          <a:xfrm>
            <a:off x="594360" y="2423160"/>
            <a:ext cx="640080" cy="576072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551176"/>
            <a:ext cx="320040" cy="32004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1371600" y="239572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Which Ability?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6" name="Text"/>
          <p:cNvSpPr txBox="1"/>
          <p:nvPr/>
        </p:nvSpPr>
        <p:spPr>
          <a:xfrm>
            <a:off x="1371600" y="2788920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Melee uses STR, ranged uses DEX, Finesse weapons use either. Spell attacks use your spellcasting ability.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7" name="Card"/>
          <p:cNvSpPr/>
          <p:nvPr/>
        </p:nvSpPr>
        <p:spPr>
          <a:xfrm>
            <a:off x="6185916" y="2286000"/>
            <a:ext cx="554583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8" name="Icon badge"/>
          <p:cNvSpPr/>
          <p:nvPr/>
        </p:nvSpPr>
        <p:spPr>
          <a:xfrm>
            <a:off x="6323076" y="2423160"/>
            <a:ext cx="640080" cy="576072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551176"/>
            <a:ext cx="320040" cy="32004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7100316" y="239572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Critical Hits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7100316" y="2788920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 natural 20 always hits: roll all damage dice twice and add modifiers once. A natural 1 always misses.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457200" y="4160520"/>
            <a:ext cx="554583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Icon badge"/>
          <p:cNvSpPr/>
          <p:nvPr/>
        </p:nvSpPr>
        <p:spPr>
          <a:xfrm>
            <a:off x="594360" y="4297680"/>
            <a:ext cx="640080" cy="576072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425696"/>
            <a:ext cx="320040" cy="320040"/>
          </a:xfrm>
          <a:prstGeom prst="rect">
            <a:avLst/>
          </a:prstGeom>
        </p:spPr>
      </p:pic>
      <p:sp>
        <p:nvSpPr>
          <p:cNvPr id="25" name="Text"/>
          <p:cNvSpPr txBox="1"/>
          <p:nvPr/>
        </p:nvSpPr>
        <p:spPr>
          <a:xfrm>
            <a:off x="1371600" y="427024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Damage Roll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1371600" y="4663440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Weapon die + the same ability modifier. Unarmed strike deals 1 + STR bludgeoning.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7" name="Card"/>
          <p:cNvSpPr/>
          <p:nvPr/>
        </p:nvSpPr>
        <p:spPr>
          <a:xfrm>
            <a:off x="6185916" y="4160520"/>
            <a:ext cx="5545836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8" name="Icon badge"/>
          <p:cNvSpPr/>
          <p:nvPr/>
        </p:nvSpPr>
        <p:spPr>
          <a:xfrm>
            <a:off x="6323076" y="4297680"/>
            <a:ext cx="640080" cy="576072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425696"/>
            <a:ext cx="320040" cy="320040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7100316" y="427024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Weapon Mastery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1" name="Text"/>
          <p:cNvSpPr txBox="1"/>
          <p:nvPr/>
        </p:nvSpPr>
        <p:spPr>
          <a:xfrm>
            <a:off x="7100316" y="4663440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Trained weapons unlock Cleave, Graze, Nick, Push, Sap, Slow, Topple, or Vex.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17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Combat Cheat Sheet</a:t>
            </a:r>
            <a:endParaRPr lang="en-US" sz="3600" b="0" dirty="0">
              <a:latin typeface="Mangoli" pitchFamily="2" charset="0"/>
            </a:endParaRPr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94902"/>
              </p:ext>
            </p:extLst>
          </p:nvPr>
        </p:nvGraphicFramePr>
        <p:xfrm>
          <a:off x="457200" y="1280160"/>
          <a:ext cx="11274552" cy="4937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Mangoli" pitchFamily="2" charset="0"/>
                        </a:rPr>
                        <a:t>Situation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Mangoli" pitchFamily="2" charset="0"/>
                        </a:rPr>
                        <a:t>Rule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Opportunity Attack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Reaction: one melee attack when a creature you can see leaves your reach. Disengage prevents it.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Two-Weapon Fighting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Attack with a Light weapon, then a Bonus Action attack with another Light weapon (no ability bonus to damage).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Ranged Attacks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Disadvantage if a hostile is within 5 ft, or beyond normal range (up to long range).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Cover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Half: +2 AC and DEX saves. Three-quarters: +5. Total: cannot be targeted directly.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Grapple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Unarmed Strike option: target up to one size larger makes a STR or DEX save (DC 8 + STR + PB) or is Grappled.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Shove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Same save; push the target 5 ft away or knock it Prone.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Attacking Prone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Advantage within 5 ft; otherwise Disadvantage.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accent4"/>
                          </a:solidFill>
                          <a:latin typeface="Mangoli" pitchFamily="2" charset="0"/>
                        </a:rPr>
                        <a:t>Unseen Attacker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Mangoli" pitchFamily="2" charset="0"/>
                        </a:rPr>
                        <a:t>Hidden or Invisible attackers have Advantage; attacking an unseen target has Disadvantage.</a:t>
                      </a:r>
                      <a:endParaRPr lang="en-US" sz="1500" b="0" dirty="0">
                        <a:latin typeface="Mangoli" pitchFamily="2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18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Damage Types and Resistance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40080" y="1371600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Acid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640080" y="1719072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Acid Splash, black pudding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6" name="Card"/>
          <p:cNvSpPr/>
          <p:nvPr/>
        </p:nvSpPr>
        <p:spPr>
          <a:xfrm>
            <a:off x="3303270" y="1280160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3486150" y="1371600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Bludgeoning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3486150" y="1719072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Maces, hammers, falls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9" name="Card"/>
          <p:cNvSpPr/>
          <p:nvPr/>
        </p:nvSpPr>
        <p:spPr>
          <a:xfrm>
            <a:off x="6149340" y="1280160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6332220" y="1371600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Cold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1" name="Text"/>
          <p:cNvSpPr txBox="1"/>
          <p:nvPr/>
        </p:nvSpPr>
        <p:spPr>
          <a:xfrm>
            <a:off x="6332220" y="1719072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Ray of Frost, Freljord blizzards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ard"/>
          <p:cNvSpPr/>
          <p:nvPr/>
        </p:nvSpPr>
        <p:spPr>
          <a:xfrm>
            <a:off x="8995410" y="1280160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9178290" y="1371600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Fire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4" name="Text"/>
          <p:cNvSpPr txBox="1"/>
          <p:nvPr/>
        </p:nvSpPr>
        <p:spPr>
          <a:xfrm>
            <a:off x="9178290" y="1719072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Fire Bolt, dragons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457200" y="2439162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40080" y="2530602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Force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640080" y="2878074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Magic Missile, Eldritch Blast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3303270" y="2439162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3486150" y="2530602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Lightning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3486150" y="2878074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Lightning Bolt, storm spells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1" name="Card"/>
          <p:cNvSpPr/>
          <p:nvPr/>
        </p:nvSpPr>
        <p:spPr>
          <a:xfrm>
            <a:off x="6149340" y="2439162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332220" y="2530602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Necrotic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6332220" y="2878074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Chill Touch, Shadow Isles wraiths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4" name="Card"/>
          <p:cNvSpPr/>
          <p:nvPr/>
        </p:nvSpPr>
        <p:spPr>
          <a:xfrm>
            <a:off x="8995410" y="2439162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9178290" y="2530602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Piercing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9178290" y="2878074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Arrows, daggers, spears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7" name="Card"/>
          <p:cNvSpPr/>
          <p:nvPr/>
        </p:nvSpPr>
        <p:spPr>
          <a:xfrm>
            <a:off x="457200" y="3598164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640080" y="3689604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Poison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9" name="Text"/>
          <p:cNvSpPr txBox="1"/>
          <p:nvPr/>
        </p:nvSpPr>
        <p:spPr>
          <a:xfrm>
            <a:off x="640080" y="4037076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Venom, Zaun toxins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0" name="Card"/>
          <p:cNvSpPr/>
          <p:nvPr/>
        </p:nvSpPr>
        <p:spPr>
          <a:xfrm>
            <a:off x="3303270" y="3598164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3486150" y="3689604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Psychic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2" name="Text"/>
          <p:cNvSpPr txBox="1"/>
          <p:nvPr/>
        </p:nvSpPr>
        <p:spPr>
          <a:xfrm>
            <a:off x="3486150" y="4037076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Vicious Mockery, Void horrors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Card"/>
          <p:cNvSpPr/>
          <p:nvPr/>
        </p:nvSpPr>
        <p:spPr>
          <a:xfrm>
            <a:off x="6149340" y="3598164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332220" y="3689604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Radiant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5" name="Text"/>
          <p:cNvSpPr txBox="1"/>
          <p:nvPr/>
        </p:nvSpPr>
        <p:spPr>
          <a:xfrm>
            <a:off x="6332220" y="4037076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Sacred Flame, Solari sunfire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6" name="Card"/>
          <p:cNvSpPr/>
          <p:nvPr/>
        </p:nvSpPr>
        <p:spPr>
          <a:xfrm>
            <a:off x="8995410" y="3598164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9178290" y="3689604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Slashing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38" name="Text"/>
          <p:cNvSpPr txBox="1"/>
          <p:nvPr/>
        </p:nvSpPr>
        <p:spPr>
          <a:xfrm>
            <a:off x="9178290" y="4037076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Swords, axes, claws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9" name="Card"/>
          <p:cNvSpPr/>
          <p:nvPr/>
        </p:nvSpPr>
        <p:spPr>
          <a:xfrm>
            <a:off x="457200" y="4757166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0" name="Text"/>
          <p:cNvSpPr txBox="1"/>
          <p:nvPr/>
        </p:nvSpPr>
        <p:spPr>
          <a:xfrm>
            <a:off x="640080" y="4848606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Thunder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41" name="Text"/>
          <p:cNvSpPr txBox="1"/>
          <p:nvPr/>
        </p:nvSpPr>
        <p:spPr>
          <a:xfrm>
            <a:off x="640080" y="5196078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Thunderwave, sonic blasts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42" name="Card"/>
          <p:cNvSpPr/>
          <p:nvPr/>
        </p:nvSpPr>
        <p:spPr>
          <a:xfrm>
            <a:off x="3303270" y="4757166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3" name="Text"/>
          <p:cNvSpPr txBox="1"/>
          <p:nvPr/>
        </p:nvSpPr>
        <p:spPr>
          <a:xfrm>
            <a:off x="3486150" y="4848606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Resistance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44" name="Text"/>
          <p:cNvSpPr txBox="1"/>
          <p:nvPr/>
        </p:nvSpPr>
        <p:spPr>
          <a:xfrm>
            <a:off x="3486150" y="5196078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Take half damage (rounded down).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45" name="Card"/>
          <p:cNvSpPr/>
          <p:nvPr/>
        </p:nvSpPr>
        <p:spPr>
          <a:xfrm>
            <a:off x="6149340" y="4757166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6" name="Text"/>
          <p:cNvSpPr txBox="1"/>
          <p:nvPr/>
        </p:nvSpPr>
        <p:spPr>
          <a:xfrm>
            <a:off x="6332220" y="4848606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Vulnerability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47" name="Text"/>
          <p:cNvSpPr txBox="1"/>
          <p:nvPr/>
        </p:nvSpPr>
        <p:spPr>
          <a:xfrm>
            <a:off x="6332220" y="5196078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Take double damage.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48" name="Card"/>
          <p:cNvSpPr/>
          <p:nvPr/>
        </p:nvSpPr>
        <p:spPr>
          <a:xfrm>
            <a:off x="8995410" y="4757166"/>
            <a:ext cx="2736342" cy="1049274"/>
          </a:xfrm>
          <a:prstGeom prst="roundRect">
            <a:avLst>
              <a:gd name="adj" fmla="val 10458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9" name="Text"/>
          <p:cNvSpPr txBox="1"/>
          <p:nvPr/>
        </p:nvSpPr>
        <p:spPr>
          <a:xfrm>
            <a:off x="9178290" y="4848606"/>
            <a:ext cx="2370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Immunity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50" name="Text"/>
          <p:cNvSpPr txBox="1"/>
          <p:nvPr/>
        </p:nvSpPr>
        <p:spPr>
          <a:xfrm>
            <a:off x="9178290" y="5196078"/>
            <a:ext cx="2370582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Take no damage of that type.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51" name="Tip"/>
          <p:cNvSpPr/>
          <p:nvPr/>
        </p:nvSpPr>
        <p:spPr>
          <a:xfrm>
            <a:off x="457200" y="5989320"/>
            <a:ext cx="112745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Order of effects 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apply bonuses and penalties first, then resistance, then vulnerability.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19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Dropping to 0 HP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hip"/>
          <p:cNvSpPr/>
          <p:nvPr/>
        </p:nvSpPr>
        <p:spPr>
          <a:xfrm>
            <a:off x="457200" y="1280160"/>
            <a:ext cx="3392424" cy="731520"/>
          </a:xfrm>
          <a:prstGeom prst="roundRect">
            <a:avLst>
              <a:gd name="adj" fmla="val 375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Drop to 0 HP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4" name="Arrow"/>
          <p:cNvSpPr/>
          <p:nvPr/>
        </p:nvSpPr>
        <p:spPr>
          <a:xfrm>
            <a:off x="3895344" y="1463040"/>
            <a:ext cx="45720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hip"/>
          <p:cNvSpPr/>
          <p:nvPr/>
        </p:nvSpPr>
        <p:spPr>
          <a:xfrm>
            <a:off x="4398264" y="1280160"/>
            <a:ext cx="3392424" cy="73152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Fall Unconscious (Prone)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6" name="Arrow"/>
          <p:cNvSpPr/>
          <p:nvPr/>
        </p:nvSpPr>
        <p:spPr>
          <a:xfrm>
            <a:off x="7836408" y="1463040"/>
            <a:ext cx="45720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hip"/>
          <p:cNvSpPr/>
          <p:nvPr/>
        </p:nvSpPr>
        <p:spPr>
          <a:xfrm>
            <a:off x="8339328" y="1280160"/>
            <a:ext cx="3392424" cy="73152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angoli" pitchFamily="2" charset="0"/>
              </a:rPr>
              <a:t>Death Saves each turn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57200" y="2240280"/>
            <a:ext cx="5532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Mangoli" pitchFamily="2" charset="0"/>
              </a:rPr>
              <a:t>Death Saving Throw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640080" y="27889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d20, no modifiers: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10 or higher is a success; 9 or lower is a failure.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Natural 1: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counts as two failures.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Natural 20: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regain 1 HP and wake up.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6199632" y="2240280"/>
            <a:ext cx="55321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6382512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  <a:latin typeface="Mangoli" pitchFamily="2" charset="0"/>
              </a:rPr>
              <a:t>Tracker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3" name="Success marker"/>
          <p:cNvSpPr/>
          <p:nvPr/>
        </p:nvSpPr>
        <p:spPr>
          <a:xfrm>
            <a:off x="640080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Failure marker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uccess marker"/>
          <p:cNvSpPr/>
          <p:nvPr/>
        </p:nvSpPr>
        <p:spPr>
          <a:xfrm>
            <a:off x="704088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ailure marker"/>
          <p:cNvSpPr/>
          <p:nvPr/>
        </p:nvSpPr>
        <p:spPr>
          <a:xfrm>
            <a:off x="7040880" y="3566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uccess marker"/>
          <p:cNvSpPr/>
          <p:nvPr/>
        </p:nvSpPr>
        <p:spPr>
          <a:xfrm>
            <a:off x="7680960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Failure marker"/>
          <p:cNvSpPr/>
          <p:nvPr/>
        </p:nvSpPr>
        <p:spPr>
          <a:xfrm>
            <a:off x="7680960" y="3566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85039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3 successes: Stable (stays at 0 HP)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850392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3 failures: Dead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1" name="Card"/>
          <p:cNvSpPr/>
          <p:nvPr/>
        </p:nvSpPr>
        <p:spPr>
          <a:xfrm>
            <a:off x="457200" y="4434840"/>
            <a:ext cx="36362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40080" y="45262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Damage at 0 HP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640080" y="4873752"/>
            <a:ext cx="327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Each hit is 1 failure (a crit is 2). Leftover damage ≥ your max HP is instant death.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4" name="Card"/>
          <p:cNvSpPr/>
          <p:nvPr/>
        </p:nvSpPr>
        <p:spPr>
          <a:xfrm>
            <a:off x="4276344" y="4434840"/>
            <a:ext cx="36362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4459224" y="45262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Stabilize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6" name="Text"/>
          <p:cNvSpPr txBox="1"/>
          <p:nvPr/>
        </p:nvSpPr>
        <p:spPr>
          <a:xfrm>
            <a:off x="4459224" y="4873752"/>
            <a:ext cx="327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DC 10 WIS (Medicine) check as an action. Any healing wakes you up.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7" name="Card"/>
          <p:cNvSpPr/>
          <p:nvPr/>
        </p:nvSpPr>
        <p:spPr>
          <a:xfrm>
            <a:off x="8095488" y="4434840"/>
            <a:ext cx="363626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8278368" y="4526280"/>
            <a:ext cx="327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Knock Out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9" name="Text"/>
          <p:cNvSpPr txBox="1"/>
          <p:nvPr/>
        </p:nvSpPr>
        <p:spPr>
          <a:xfrm>
            <a:off x="8278368" y="4873752"/>
            <a:ext cx="3270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 melee attacker can choose to knock a foe out: Unconscious but Stable.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20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Resting and Recovery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4406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640080" y="1417320"/>
            <a:ext cx="640080" cy="576072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45336"/>
            <a:ext cx="320040" cy="32004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1417320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Mangoli" pitchFamily="2" charset="0"/>
              </a:rPr>
              <a:t>SHORT REST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3657600" y="137160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tx2"/>
                </a:solidFill>
                <a:latin typeface="Mangoli" pitchFamily="2" charset="0"/>
              </a:rPr>
              <a:t>1 hour</a:t>
            </a:r>
            <a:endParaRPr lang="en-US" sz="3200" dirty="0">
              <a:latin typeface="Mangoli" pitchFamily="2" charset="0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685800" y="22860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Hit Dice: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spend any number; each heals a die roll + CON modifier.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Recharge: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Warlock slots, Monk Focus Points, one Channel Divinity use.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9" name="Card"/>
          <p:cNvSpPr/>
          <p:nvPr/>
        </p:nvSpPr>
        <p:spPr>
          <a:xfrm>
            <a:off x="6291072" y="1280160"/>
            <a:ext cx="54406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Icon badge"/>
          <p:cNvSpPr/>
          <p:nvPr/>
        </p:nvSpPr>
        <p:spPr>
          <a:xfrm>
            <a:off x="6473952" y="1417320"/>
            <a:ext cx="640080" cy="576072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1545336"/>
            <a:ext cx="320040" cy="32004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7296912" y="1417320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  <a:latin typeface="Mangoli" pitchFamily="2" charset="0"/>
              </a:rPr>
              <a:t>LONG REST</a:t>
            </a:r>
            <a:endParaRPr lang="en-US" sz="2000" dirty="0">
              <a:latin typeface="Mangoli" pitchFamily="2" charset="0"/>
            </a:endParaRPr>
          </a:p>
        </p:txBody>
      </p:sp>
      <p:sp>
        <p:nvSpPr>
          <p:cNvPr id="13" name="Text"/>
          <p:cNvSpPr txBox="1"/>
          <p:nvPr/>
        </p:nvSpPr>
        <p:spPr>
          <a:xfrm>
            <a:off x="9491472" y="137160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tx2"/>
                </a:solidFill>
                <a:latin typeface="Mangoli" pitchFamily="2" charset="0"/>
              </a:rPr>
              <a:t>8 hours</a:t>
            </a:r>
            <a:endParaRPr lang="en-US" sz="3200" dirty="0">
              <a:latin typeface="Mangoli" pitchFamily="2" charset="0"/>
            </a:endParaRPr>
          </a:p>
        </p:txBody>
      </p:sp>
      <p:sp>
        <p:nvSpPr>
          <p:cNvPr id="14" name="Text"/>
          <p:cNvSpPr txBox="1"/>
          <p:nvPr/>
        </p:nvSpPr>
        <p:spPr>
          <a:xfrm>
            <a:off x="6519672" y="22860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Hit Points: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regain all of them.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Hit Dice: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regain up to half your total (minimum 1).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Magic: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regain all spell slots and most features.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Exhaustion: </a:t>
            </a:r>
            <a:r>
              <a:rPr lang="en-US" sz="1600" dirty="0">
                <a:solidFill>
                  <a:schemeClr val="tx1"/>
                </a:solidFill>
                <a:latin typeface="Mangoli" pitchFamily="2" charset="0"/>
              </a:rPr>
              <a:t>reduced by 1 level.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457200" y="5029200"/>
            <a:ext cx="1127455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40080" y="502920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Long Rest limits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Once per 24 hours, and you need at least 1 HP. An hour of strenuous activity (fighting, spellcasting, long marches) interrupts it.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21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Spellcasting Fundamentals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36264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685800" cy="617220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554480"/>
            <a:ext cx="342900" cy="3429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17320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1"/>
                </a:solidFill>
                <a:latin typeface="Mangoli" pitchFamily="2" charset="0"/>
              </a:rPr>
              <a:t>Cantrips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40080" y="2194560"/>
            <a:ext cx="32705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Level 0 spells cast at will with no slot. They grow stronger at levels 5, 11, and 17.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4276344" y="1280160"/>
            <a:ext cx="3636264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4413504" y="1417320"/>
            <a:ext cx="685800" cy="617220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954" y="1554480"/>
            <a:ext cx="342900" cy="3429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236464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Mangoli" pitchFamily="2" charset="0"/>
              </a:rPr>
              <a:t>Spell Slots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4459224" y="2194560"/>
            <a:ext cx="32705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Slots (levels 1–9) fuel spells. A higher slot can cast lower spells. All return on a Long Rest.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8095488" y="1280160"/>
            <a:ext cx="3636264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8232648" y="1417320"/>
            <a:ext cx="685800" cy="61722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098" y="1554480"/>
            <a:ext cx="342900" cy="34290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9055608" y="141732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Prepared Spells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8278368" y="2194560"/>
            <a:ext cx="32705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Pick spells from your class list after a Long Rest. The number depends on your level.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457200" y="3634740"/>
            <a:ext cx="3636264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594360" y="3771900"/>
            <a:ext cx="685800" cy="617220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3909060"/>
            <a:ext cx="342900" cy="34290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417320" y="377190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Mangoli" pitchFamily="2" charset="0"/>
              </a:rPr>
              <a:t>Casting Time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640080" y="4549140"/>
            <a:ext cx="32705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Mostly the Magic action; some need a Bonus Action or Reaction. After a Bonus Action spell, only cantrips as your action.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3" name="Card"/>
          <p:cNvSpPr/>
          <p:nvPr/>
        </p:nvSpPr>
        <p:spPr>
          <a:xfrm>
            <a:off x="4276344" y="3634740"/>
            <a:ext cx="3636264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4413504" y="3771900"/>
            <a:ext cx="685800" cy="617220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954" y="3909060"/>
            <a:ext cx="342900" cy="3429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5236464" y="377190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5"/>
                </a:solidFill>
                <a:latin typeface="Mangoli" pitchFamily="2" charset="0"/>
              </a:rPr>
              <a:t>Upcasting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27" name="Text"/>
          <p:cNvSpPr txBox="1"/>
          <p:nvPr/>
        </p:nvSpPr>
        <p:spPr>
          <a:xfrm>
            <a:off x="4459224" y="4549140"/>
            <a:ext cx="32705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Use a higher slot for more effect. Cure Wounds heals +2d8 per slot level above 1st.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8" name="Card"/>
          <p:cNvSpPr/>
          <p:nvPr/>
        </p:nvSpPr>
        <p:spPr>
          <a:xfrm>
            <a:off x="8095488" y="3634740"/>
            <a:ext cx="3636264" cy="2171700"/>
          </a:xfrm>
          <a:prstGeom prst="roundRect">
            <a:avLst>
              <a:gd name="adj" fmla="val 5053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8232648" y="3771900"/>
            <a:ext cx="685800" cy="617220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098" y="3909060"/>
            <a:ext cx="342900" cy="3429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9055608" y="3771900"/>
            <a:ext cx="2538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  <a:latin typeface="Mangoli" pitchFamily="2" charset="0"/>
              </a:rPr>
              <a:t>Rituals</a:t>
            </a:r>
            <a:endParaRPr lang="en-US" sz="1700" dirty="0">
              <a:latin typeface="Mangoli" pitchFamily="2" charset="0"/>
            </a:endParaRPr>
          </a:p>
        </p:txBody>
      </p:sp>
      <p:sp>
        <p:nvSpPr>
          <p:cNvPr id="32" name="Text"/>
          <p:cNvSpPr txBox="1"/>
          <p:nvPr/>
        </p:nvSpPr>
        <p:spPr>
          <a:xfrm>
            <a:off x="8278368" y="4549140"/>
            <a:ext cx="327050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Spells with the Ritual tag can be cast in 10 extra minutes without using a slot.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3" name="Tip"/>
          <p:cNvSpPr/>
          <p:nvPr/>
        </p:nvSpPr>
        <p:spPr>
          <a:xfrm>
            <a:off x="457200" y="5989320"/>
            <a:ext cx="11274552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Mangoli" pitchFamily="2" charset="0"/>
              </a:rPr>
              <a:t>Runeterra tip  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Hextech devices can mimic spells for non-casters. Treat them as magic items with limited charges.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22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Spell Components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118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40080" y="1463040"/>
            <a:ext cx="1005840" cy="905256"/>
          </a:xfrm>
          <a:prstGeom prst="hexagon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  <a:latin typeface="Mangoli" pitchFamily="2" charset="0"/>
              </a:rPr>
              <a:t>V</a:t>
            </a:r>
            <a:endParaRPr lang="en-US" sz="40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1828800" y="1463040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3"/>
                </a:solidFill>
                <a:latin typeface="Mangoli" pitchFamily="2" charset="0"/>
              </a:rPr>
              <a:t>Verbal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685800" y="2606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Spoken words or chants. Blocked by Silence, gags, or being unable to speak.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7" name="Card"/>
          <p:cNvSpPr/>
          <p:nvPr/>
        </p:nvSpPr>
        <p:spPr>
          <a:xfrm>
            <a:off x="4288536" y="1280160"/>
            <a:ext cx="36118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8" name="Number badge"/>
          <p:cNvSpPr/>
          <p:nvPr/>
        </p:nvSpPr>
        <p:spPr>
          <a:xfrm>
            <a:off x="4471416" y="1463040"/>
            <a:ext cx="1005840" cy="905256"/>
          </a:xfrm>
          <a:prstGeom prst="hexagon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  <a:latin typeface="Mangoli" pitchFamily="2" charset="0"/>
              </a:rPr>
              <a:t>S</a:t>
            </a:r>
            <a:endParaRPr lang="en-US" sz="4000" dirty="0">
              <a:latin typeface="Mangoli" pitchFamily="2" charset="0"/>
            </a:endParaRPr>
          </a:p>
        </p:txBody>
      </p:sp>
      <p:sp>
        <p:nvSpPr>
          <p:cNvPr id="9" name="Text"/>
          <p:cNvSpPr txBox="1"/>
          <p:nvPr/>
        </p:nvSpPr>
        <p:spPr>
          <a:xfrm>
            <a:off x="5660136" y="1463040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  <a:latin typeface="Mangoli" pitchFamily="2" charset="0"/>
              </a:rPr>
              <a:t>Somatic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4517136" y="2606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Precise gestures. You need a free hand to perform them.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8119872" y="1280160"/>
            <a:ext cx="36118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2" name="Number badge"/>
          <p:cNvSpPr/>
          <p:nvPr/>
        </p:nvSpPr>
        <p:spPr>
          <a:xfrm>
            <a:off x="8302752" y="1463040"/>
            <a:ext cx="1005840" cy="905256"/>
          </a:xfrm>
          <a:prstGeom prst="hexagon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  <a:latin typeface="Mangoli" pitchFamily="2" charset="0"/>
              </a:rPr>
              <a:t>M</a:t>
            </a:r>
            <a:endParaRPr lang="en-US" sz="4000" dirty="0">
              <a:latin typeface="Mangoli" pitchFamily="2" charset="0"/>
            </a:endParaRPr>
          </a:p>
        </p:txBody>
      </p:sp>
      <p:sp>
        <p:nvSpPr>
          <p:cNvPr id="13" name="Text"/>
          <p:cNvSpPr txBox="1"/>
          <p:nvPr/>
        </p:nvSpPr>
        <p:spPr>
          <a:xfrm>
            <a:off x="9491472" y="1463040"/>
            <a:ext cx="2103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  <a:latin typeface="Mangoli" pitchFamily="2" charset="0"/>
              </a:rPr>
              <a:t>Material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14" name="Text"/>
          <p:cNvSpPr txBox="1"/>
          <p:nvPr/>
        </p:nvSpPr>
        <p:spPr>
          <a:xfrm>
            <a:off x="8348472" y="2606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Physical items, or a Spellcasting Focus. Costly items are consumed only if the spell says so.</a:t>
            </a:r>
            <a:endParaRPr lang="en-US" sz="1500" dirty="0">
              <a:latin typeface="Mangoli" pitchFamily="2" charset="0"/>
            </a:endParaRPr>
          </a:p>
        </p:txBody>
      </p:sp>
      <p:sp>
        <p:nvSpPr>
          <p:cNvPr id="15" name="Card"/>
          <p:cNvSpPr/>
          <p:nvPr/>
        </p:nvSpPr>
        <p:spPr>
          <a:xfrm>
            <a:off x="457200" y="4297680"/>
            <a:ext cx="5500116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40080" y="4389120"/>
            <a:ext cx="5134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Spellcasting Focus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640080" y="4736592"/>
            <a:ext cx="51343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Holy symbol (Cleric, Paladin), druidic focus (Druid, Ranger), or arcane focus (Sorcerer, Wizard, Warlock) replaces materials with no listed cost.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8" name="Card"/>
          <p:cNvSpPr/>
          <p:nvPr/>
        </p:nvSpPr>
        <p:spPr>
          <a:xfrm>
            <a:off x="6231636" y="4297680"/>
            <a:ext cx="5500116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414516" y="4389120"/>
            <a:ext cx="51343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Costly Materials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6414516" y="4736592"/>
            <a:ext cx="51343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If a component lists a gold cost, you must have the real item. Range, Duration, and Area are on every spell.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23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Concentration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hip"/>
          <p:cNvSpPr/>
          <p:nvPr/>
        </p:nvSpPr>
        <p:spPr>
          <a:xfrm>
            <a:off x="457200" y="1280160"/>
            <a:ext cx="5303520" cy="868680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Cast a Concentration spell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4" name="Arrow"/>
          <p:cNvSpPr/>
          <p:nvPr/>
        </p:nvSpPr>
        <p:spPr>
          <a:xfrm>
            <a:off x="2834640" y="2167128"/>
            <a:ext cx="548640" cy="256032"/>
          </a:xfrm>
          <a:prstGeom prst="down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hip"/>
          <p:cNvSpPr/>
          <p:nvPr/>
        </p:nvSpPr>
        <p:spPr>
          <a:xfrm>
            <a:off x="457200" y="2450592"/>
            <a:ext cx="5303520" cy="868680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Take damage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6" name="Arrow"/>
          <p:cNvSpPr/>
          <p:nvPr/>
        </p:nvSpPr>
        <p:spPr>
          <a:xfrm>
            <a:off x="2834640" y="3337560"/>
            <a:ext cx="548640" cy="256032"/>
          </a:xfrm>
          <a:prstGeom prst="down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hip"/>
          <p:cNvSpPr/>
          <p:nvPr/>
        </p:nvSpPr>
        <p:spPr>
          <a:xfrm>
            <a:off x="457200" y="3621024"/>
            <a:ext cx="5303520" cy="868680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CON save: DC 10 or half the damage (higher), max DC 30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8" name="Arrow"/>
          <p:cNvSpPr/>
          <p:nvPr/>
        </p:nvSpPr>
        <p:spPr>
          <a:xfrm>
            <a:off x="2834640" y="4507992"/>
            <a:ext cx="548640" cy="256032"/>
          </a:xfrm>
          <a:prstGeom prst="down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hip"/>
          <p:cNvSpPr/>
          <p:nvPr/>
        </p:nvSpPr>
        <p:spPr>
          <a:xfrm>
            <a:off x="457200" y="4791456"/>
            <a:ext cx="5303520" cy="868680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angoli" pitchFamily="2" charset="0"/>
              </a:rPr>
              <a:t>Pass: spell continues. Fail: spell ends.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0" name="Card"/>
          <p:cNvSpPr/>
          <p:nvPr/>
        </p:nvSpPr>
        <p:spPr>
          <a:xfrm>
            <a:off x="6126480" y="1280160"/>
            <a:ext cx="560527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6355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  <a:latin typeface="Mangoli" pitchFamily="2" charset="0"/>
              </a:rPr>
              <a:t>Concentration Rules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6355080" y="187452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One at a time: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casting another Concentration spell ends the first.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Also ends if: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you are Incapacitated, die, or the duration expires.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Each hit: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every source of damage triggers its own save.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Examples: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8 damage means DC 10; 30 damage means DC 15.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Mangoli" pitchFamily="2" charset="0"/>
              </a:rPr>
              <a:t>Helps: </a:t>
            </a:r>
            <a:r>
              <a:rPr lang="en-US" sz="1700" dirty="0">
                <a:solidFill>
                  <a:schemeClr val="tx1"/>
                </a:solidFill>
                <a:latin typeface="Mangoli" pitchFamily="2" charset="0"/>
              </a:rPr>
              <a:t>CON save proficiency, and the War Caster feat grants Advantage.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24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Spell Save DC and Spell Attacks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Mangoli" pitchFamily="2" charset="0"/>
              </a:rPr>
              <a:t>Spell Save DC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685800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Mangoli" pitchFamily="2" charset="0"/>
              </a:rPr>
              <a:t>8 + PB + spellcasting modifier</a:t>
            </a:r>
            <a:endParaRPr lang="en-US" sz="2400" dirty="0">
              <a:latin typeface="Mangoli" pitchFamily="2" charset="0"/>
            </a:endParaRPr>
          </a:p>
        </p:txBody>
      </p:sp>
      <p:sp>
        <p:nvSpPr>
          <p:cNvPr id="6" name="Card"/>
          <p:cNvSpPr/>
          <p:nvPr/>
        </p:nvSpPr>
        <p:spPr>
          <a:xfrm>
            <a:off x="6291072" y="128016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6519672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  <a:latin typeface="Mangoli" pitchFamily="2" charset="0"/>
              </a:rPr>
              <a:t>Spell Attack Bonus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6519672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Mangoli" pitchFamily="2" charset="0"/>
              </a:rPr>
              <a:t>PB + spellcasting modifier</a:t>
            </a:r>
            <a:endParaRPr lang="en-US" sz="2400" dirty="0">
              <a:latin typeface="Mangoli" pitchFamily="2" charset="0"/>
            </a:endParaRPr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594050"/>
              </p:ext>
            </p:extLst>
          </p:nvPr>
        </p:nvGraphicFramePr>
        <p:xfrm>
          <a:off x="457200" y="2971800"/>
          <a:ext cx="6949440" cy="3017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Ability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Focus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Cleric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WIS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Holy symbol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Paladin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CHA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Holy symbol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Ranger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WIS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Druidic focus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Wizard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Arcane focus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Monk (Focus DC)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WIS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None; DC = 8 + PB + WIS</a:t>
                      </a:r>
                      <a:endParaRPr lang="en-US" sz="15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Card"/>
          <p:cNvSpPr/>
          <p:nvPr/>
        </p:nvSpPr>
        <p:spPr>
          <a:xfrm>
            <a:off x="7680960" y="2971800"/>
            <a:ext cx="4050792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78638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Mangoli" pitchFamily="2" charset="0"/>
              </a:rPr>
              <a:t>Worked Examples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12" name="Text"/>
          <p:cNvSpPr txBox="1"/>
          <p:nvPr/>
        </p:nvSpPr>
        <p:spPr>
          <a:xfrm>
            <a:off x="7863840" y="3566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2"/>
                </a:solidFill>
                <a:latin typeface="Mangoli" pitchFamily="2" charset="0"/>
              </a:rPr>
              <a:t>Level 5 Sorcerer: </a:t>
            </a: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PB +3, CHA +4. DC 15, attack +7.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2"/>
                </a:solidFill>
                <a:latin typeface="Mangoli" pitchFamily="2" charset="0"/>
              </a:rPr>
              <a:t>Level 9 Cleric: </a:t>
            </a:r>
            <a:r>
              <a:rPr lang="en-US" sz="1500" dirty="0">
                <a:solidFill>
                  <a:schemeClr val="tx1"/>
                </a:solidFill>
                <a:latin typeface="Mangoli" pitchFamily="2" charset="0"/>
              </a:rPr>
              <a:t>PB +4, WIS +4. DC 16, attack +8.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25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Equipment and Coinage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" name="Coin"/>
          <p:cNvSpPr/>
          <p:nvPr/>
        </p:nvSpPr>
        <p:spPr>
          <a:xfrm>
            <a:off x="640080" y="14173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oin icon" descr="co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411480" cy="41148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508760" y="1389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Copper (cp)</a:t>
            </a:r>
            <a:endParaRPr lang="en-US" sz="1700" dirty="0"/>
          </a:p>
        </p:txBody>
      </p:sp>
      <p:sp>
        <p:nvSpPr>
          <p:cNvPr id="7" name="Text"/>
          <p:cNvSpPr txBox="1"/>
          <p:nvPr/>
        </p:nvSpPr>
        <p:spPr>
          <a:xfrm>
            <a:off x="15087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cp = 1 sp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304288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9" name="Coin"/>
          <p:cNvSpPr/>
          <p:nvPr/>
        </p:nvSpPr>
        <p:spPr>
          <a:xfrm>
            <a:off x="640080" y="2441448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Coin icon" descr="co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78608"/>
            <a:ext cx="411480" cy="4114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0876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Silver (sp)</a:t>
            </a:r>
            <a:endParaRPr lang="en-US" sz="1700" dirty="0"/>
          </a:p>
        </p:txBody>
      </p:sp>
      <p:sp>
        <p:nvSpPr>
          <p:cNvPr id="12" name="Text"/>
          <p:cNvSpPr txBox="1"/>
          <p:nvPr/>
        </p:nvSpPr>
        <p:spPr>
          <a:xfrm>
            <a:off x="150876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sp = 1 gp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328416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4" name="Coin"/>
          <p:cNvSpPr/>
          <p:nvPr/>
        </p:nvSpPr>
        <p:spPr>
          <a:xfrm>
            <a:off x="640080" y="3465576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oin icon" descr="co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02736"/>
            <a:ext cx="411480" cy="41148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150876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Gold (gp)</a:t>
            </a:r>
            <a:endParaRPr lang="en-US" sz="1700" dirty="0"/>
          </a:p>
        </p:txBody>
      </p:sp>
      <p:sp>
        <p:nvSpPr>
          <p:cNvPr id="17" name="Text"/>
          <p:cNvSpPr txBox="1"/>
          <p:nvPr/>
        </p:nvSpPr>
        <p:spPr>
          <a:xfrm>
            <a:off x="1508760" y="3831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standard coin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4352544"/>
            <a:ext cx="3566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Coin"/>
          <p:cNvSpPr/>
          <p:nvPr/>
        </p:nvSpPr>
        <p:spPr>
          <a:xfrm>
            <a:off x="640080" y="448970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Coin icon" descr="co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26864"/>
            <a:ext cx="411480" cy="41148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1508760" y="4462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Platinum (pp)</a:t>
            </a:r>
            <a:endParaRPr lang="en-US" sz="1700" dirty="0"/>
          </a:p>
        </p:txBody>
      </p:sp>
      <p:sp>
        <p:nvSpPr>
          <p:cNvPr id="22" name="Text"/>
          <p:cNvSpPr txBox="1"/>
          <p:nvPr/>
        </p:nvSpPr>
        <p:spPr>
          <a:xfrm>
            <a:off x="1508760" y="4855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pp = 10 gp</a:t>
            </a:r>
            <a:endParaRPr lang="en-US" sz="1400" dirty="0"/>
          </a:p>
        </p:txBody>
      </p:sp>
      <p:sp>
        <p:nvSpPr>
          <p:cNvPr id="23" name="Text"/>
          <p:cNvSpPr txBox="1"/>
          <p:nvPr/>
        </p:nvSpPr>
        <p:spPr>
          <a:xfrm>
            <a:off x="457200" y="5440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100 cp = 10 sp = 1 gp. The 2024 table uses four coins.</a:t>
            </a:r>
            <a:endParaRPr lang="en-US" sz="1400" dirty="0"/>
          </a:p>
        </p:txBody>
      </p:sp>
      <p:graphicFrame>
        <p:nvGraphicFramePr>
          <p:cNvPr id="2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280160"/>
          <a:ext cx="3749040" cy="4572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Dagger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Shortsword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Longsword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Rapier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Longbow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Leather Armor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Chain Mail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Shield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Potion of Healing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 gp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Card"/>
          <p:cNvSpPr/>
          <p:nvPr/>
        </p:nvSpPr>
        <p:spPr>
          <a:xfrm>
            <a:off x="8321040" y="1280160"/>
            <a:ext cx="3410712" cy="4572000"/>
          </a:xfrm>
          <a:prstGeom prst="roundRect">
            <a:avLst>
              <a:gd name="adj" fmla="val 3217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85039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Weapon Properties</a:t>
            </a:r>
            <a:endParaRPr lang="en-US" sz="1800" dirty="0"/>
          </a:p>
        </p:txBody>
      </p:sp>
      <p:sp>
        <p:nvSpPr>
          <p:cNvPr id="24" name="Text"/>
          <p:cNvSpPr txBox="1"/>
          <p:nvPr/>
        </p:nvSpPr>
        <p:spPr>
          <a:xfrm>
            <a:off x="8503920" y="182880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Finesse: </a:t>
            </a:r>
            <a:r>
              <a:rPr lang="en-US" sz="1600" dirty="0">
                <a:solidFill>
                  <a:schemeClr val="tx1"/>
                </a:solidFill>
              </a:rPr>
              <a:t>STR or DEX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Light: </a:t>
            </a:r>
            <a:r>
              <a:rPr lang="en-US" sz="1600" dirty="0">
                <a:solidFill>
                  <a:schemeClr val="tx1"/>
                </a:solidFill>
              </a:rPr>
              <a:t>dual-wielding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Heavy: </a:t>
            </a:r>
            <a:r>
              <a:rPr lang="en-US" sz="1600" dirty="0">
                <a:solidFill>
                  <a:schemeClr val="tx1"/>
                </a:solidFill>
              </a:rPr>
              <a:t>Small creatures struggle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Reach: </a:t>
            </a:r>
            <a:r>
              <a:rPr lang="en-US" sz="1600" dirty="0">
                <a:solidFill>
                  <a:schemeClr val="tx1"/>
                </a:solidFill>
              </a:rPr>
              <a:t>+5 ft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Thrown: </a:t>
            </a:r>
            <a:r>
              <a:rPr lang="en-US" sz="1600" dirty="0">
                <a:solidFill>
                  <a:schemeClr val="tx1"/>
                </a:solidFill>
              </a:rPr>
              <a:t>can be hurled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Versatile: </a:t>
            </a:r>
            <a:r>
              <a:rPr lang="en-US" sz="1600" dirty="0">
                <a:solidFill>
                  <a:schemeClr val="tx1"/>
                </a:solidFill>
              </a:rPr>
              <a:t>bigger die, two hands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Ammunition: </a:t>
            </a:r>
            <a:r>
              <a:rPr lang="en-US" sz="1600" dirty="0">
                <a:solidFill>
                  <a:schemeClr val="tx1"/>
                </a:solidFill>
              </a:rPr>
              <a:t>needs arrows or bolts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3"/>
                </a:solidFill>
              </a:rPr>
              <a:t>Two-Handed: </a:t>
            </a:r>
            <a:r>
              <a:rPr lang="en-US" sz="1600" dirty="0">
                <a:solidFill>
                  <a:schemeClr val="tx1"/>
                </a:solidFill>
              </a:rPr>
              <a:t>needs both hands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Common Conditions (1 of 2)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594360" cy="534924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36192"/>
            <a:ext cx="297180" cy="29718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25880" y="138988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Blinded</a:t>
            </a:r>
            <a:endParaRPr lang="en-US" sz="1600" dirty="0"/>
          </a:p>
        </p:txBody>
      </p:sp>
      <p:sp>
        <p:nvSpPr>
          <p:cNvPr id="7" name="Text"/>
          <p:cNvSpPr txBox="1"/>
          <p:nvPr/>
        </p:nvSpPr>
        <p:spPr>
          <a:xfrm>
            <a:off x="1325880" y="178308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Cannot see; fails sight checks. Attacks against you have Advantage; yours have Disadvantage.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63056" y="128016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6300216" y="1417320"/>
            <a:ext cx="594360" cy="534924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806" y="1536192"/>
            <a:ext cx="297180" cy="2971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7031736" y="138988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Charmed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7031736" y="178308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Cannot attack the charmer. The charmer has Advantage on social checks against you.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51460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594360" y="2651760"/>
            <a:ext cx="594360" cy="534924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770632"/>
            <a:ext cx="297180" cy="29718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1325880" y="26243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Deafened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1325880" y="301752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Cannot hear; automatically fail checks that rely on hearing.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63056" y="251460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6300216" y="2651760"/>
            <a:ext cx="594360" cy="534924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806" y="2770632"/>
            <a:ext cx="297180" cy="29718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7031736" y="26243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Exhaustion</a:t>
            </a:r>
            <a:endParaRPr lang="en-US" sz="1600" dirty="0"/>
          </a:p>
        </p:txBody>
      </p:sp>
      <p:sp>
        <p:nvSpPr>
          <p:cNvPr id="22" name="Text"/>
          <p:cNvSpPr txBox="1"/>
          <p:nvPr/>
        </p:nvSpPr>
        <p:spPr>
          <a:xfrm>
            <a:off x="7031736" y="301752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Levels 1–6: −2 per level to D20 Tests, −5 ft Speed per level. Level 6 is death.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74904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594360" y="3886200"/>
            <a:ext cx="594360" cy="534924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005072"/>
            <a:ext cx="297180" cy="29718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1325880" y="385876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Frightened</a:t>
            </a:r>
            <a:endParaRPr lang="en-US" sz="1600" dirty="0"/>
          </a:p>
        </p:txBody>
      </p:sp>
      <p:sp>
        <p:nvSpPr>
          <p:cNvPr id="27" name="Text"/>
          <p:cNvSpPr txBox="1"/>
          <p:nvPr/>
        </p:nvSpPr>
        <p:spPr>
          <a:xfrm>
            <a:off x="1325880" y="42519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Disadvantage on checks and attacks while the fear source is in sight; cannot move closer.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163056" y="374904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6300216" y="3886200"/>
            <a:ext cx="594360" cy="534924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806" y="4005072"/>
            <a:ext cx="297180" cy="29718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7031736" y="385876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Grappled</a:t>
            </a:r>
            <a:endParaRPr lang="en-US" sz="1600" dirty="0"/>
          </a:p>
        </p:txBody>
      </p:sp>
      <p:sp>
        <p:nvSpPr>
          <p:cNvPr id="32" name="Text"/>
          <p:cNvSpPr txBox="1"/>
          <p:nvPr/>
        </p:nvSpPr>
        <p:spPr>
          <a:xfrm>
            <a:off x="7031736" y="42519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 0. Disadvantage on attacks against anyone except the grappler.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457200" y="498348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Icon badge"/>
          <p:cNvSpPr/>
          <p:nvPr/>
        </p:nvSpPr>
        <p:spPr>
          <a:xfrm>
            <a:off x="594360" y="5120640"/>
            <a:ext cx="594360" cy="534924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5239512"/>
            <a:ext cx="297180" cy="29718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1325880" y="509320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Incapacitated</a:t>
            </a:r>
            <a:endParaRPr lang="en-US" sz="1600" dirty="0"/>
          </a:p>
        </p:txBody>
      </p:sp>
      <p:sp>
        <p:nvSpPr>
          <p:cNvPr id="37" name="Text"/>
          <p:cNvSpPr txBox="1"/>
          <p:nvPr/>
        </p:nvSpPr>
        <p:spPr>
          <a:xfrm>
            <a:off x="1325880" y="5486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actions, Bonus Actions, or Reactions. Concentration ends; cannot speak.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6163056" y="498348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Icon badge"/>
          <p:cNvSpPr/>
          <p:nvPr/>
        </p:nvSpPr>
        <p:spPr>
          <a:xfrm>
            <a:off x="6300216" y="5120640"/>
            <a:ext cx="594360" cy="534924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Icon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806" y="5239512"/>
            <a:ext cx="297180" cy="297180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7031736" y="509320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Invisible</a:t>
            </a:r>
            <a:endParaRPr lang="en-US" sz="1600" dirty="0"/>
          </a:p>
        </p:txBody>
      </p:sp>
      <p:sp>
        <p:nvSpPr>
          <p:cNvPr id="42" name="Text"/>
          <p:cNvSpPr txBox="1"/>
          <p:nvPr/>
        </p:nvSpPr>
        <p:spPr>
          <a:xfrm>
            <a:off x="7031736" y="5486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Attacks against you have Disadvantage; yours have Advantage. Hard to detect.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Common Conditions (2 of 2)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594360" cy="534924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36192"/>
            <a:ext cx="297180" cy="29718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25880" y="138988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Paralyzed</a:t>
            </a:r>
            <a:endParaRPr lang="en-US" sz="1600" dirty="0"/>
          </a:p>
        </p:txBody>
      </p:sp>
      <p:sp>
        <p:nvSpPr>
          <p:cNvPr id="7" name="Text"/>
          <p:cNvSpPr txBox="1"/>
          <p:nvPr/>
        </p:nvSpPr>
        <p:spPr>
          <a:xfrm>
            <a:off x="1325880" y="178308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Incapacitated, Speed 0, fail STR/DEX saves. Attacks have Advantage; hits within 5 ft are crits.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63056" y="128016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6300216" y="1417320"/>
            <a:ext cx="594360" cy="534924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806" y="1536192"/>
            <a:ext cx="297180" cy="2971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7031736" y="138988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Petrified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7031736" y="178308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Turned to stone: Incapacitated, resistant to all damage, immune to Poisoned.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51460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594360" y="2651760"/>
            <a:ext cx="594360" cy="534924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770632"/>
            <a:ext cx="297180" cy="29718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1325880" y="26243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Poisoned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1325880" y="301752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Disadvantage on attack rolls and ability checks.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63056" y="251460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9" name="Icon badge"/>
          <p:cNvSpPr/>
          <p:nvPr/>
        </p:nvSpPr>
        <p:spPr>
          <a:xfrm>
            <a:off x="6300216" y="2651760"/>
            <a:ext cx="594360" cy="534924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con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806" y="2770632"/>
            <a:ext cx="297180" cy="29718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7031736" y="26243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Prone</a:t>
            </a:r>
            <a:endParaRPr lang="en-US" sz="1600" dirty="0"/>
          </a:p>
        </p:txBody>
      </p:sp>
      <p:sp>
        <p:nvSpPr>
          <p:cNvPr id="22" name="Text"/>
          <p:cNvSpPr txBox="1"/>
          <p:nvPr/>
        </p:nvSpPr>
        <p:spPr>
          <a:xfrm>
            <a:off x="7031736" y="301752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Crawl or stand (half Speed). Disadvantage on attacks; melee foes get Advantage.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74904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Icon badge"/>
          <p:cNvSpPr/>
          <p:nvPr/>
        </p:nvSpPr>
        <p:spPr>
          <a:xfrm>
            <a:off x="594360" y="3886200"/>
            <a:ext cx="594360" cy="534924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005072"/>
            <a:ext cx="297180" cy="29718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1325880" y="385876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Restrained</a:t>
            </a:r>
            <a:endParaRPr lang="en-US" sz="1600" dirty="0"/>
          </a:p>
        </p:txBody>
      </p:sp>
      <p:sp>
        <p:nvSpPr>
          <p:cNvPr id="27" name="Text"/>
          <p:cNvSpPr txBox="1"/>
          <p:nvPr/>
        </p:nvSpPr>
        <p:spPr>
          <a:xfrm>
            <a:off x="1325880" y="42519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 0. Attacks against you have Advantage; your attacks and DEX saves have Disadvantage.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163056" y="374904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Icon badge"/>
          <p:cNvSpPr/>
          <p:nvPr/>
        </p:nvSpPr>
        <p:spPr>
          <a:xfrm>
            <a:off x="6300216" y="3886200"/>
            <a:ext cx="594360" cy="534924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on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806" y="4005072"/>
            <a:ext cx="297180" cy="29718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7031736" y="385876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Stunned</a:t>
            </a:r>
            <a:endParaRPr lang="en-US" sz="1600" dirty="0"/>
          </a:p>
        </p:txBody>
      </p:sp>
      <p:sp>
        <p:nvSpPr>
          <p:cNvPr id="32" name="Text"/>
          <p:cNvSpPr txBox="1"/>
          <p:nvPr/>
        </p:nvSpPr>
        <p:spPr>
          <a:xfrm>
            <a:off x="7031736" y="42519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Incapacitated; fail STR/DEX saves. Attacks against you have Advantage.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457200" y="498348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4" name="Icon badge"/>
          <p:cNvSpPr/>
          <p:nvPr/>
        </p:nvSpPr>
        <p:spPr>
          <a:xfrm>
            <a:off x="594360" y="5120640"/>
            <a:ext cx="594360" cy="534924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con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5239512"/>
            <a:ext cx="297180" cy="29718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1325880" y="509320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Unconscious</a:t>
            </a:r>
            <a:endParaRPr lang="en-US" sz="1600" dirty="0"/>
          </a:p>
        </p:txBody>
      </p:sp>
      <p:sp>
        <p:nvSpPr>
          <p:cNvPr id="37" name="Text"/>
          <p:cNvSpPr txBox="1"/>
          <p:nvPr/>
        </p:nvSpPr>
        <p:spPr>
          <a:xfrm>
            <a:off x="1325880" y="5486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Incapacitated and Prone, Speed 0, drop items. Hits within 5 ft are crits.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6163056" y="4983480"/>
            <a:ext cx="5568696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9" name="Icon badge"/>
          <p:cNvSpPr/>
          <p:nvPr/>
        </p:nvSpPr>
        <p:spPr>
          <a:xfrm>
            <a:off x="6300216" y="5120640"/>
            <a:ext cx="594360" cy="534924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0" name="Icon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806" y="5239512"/>
            <a:ext cx="297180" cy="297180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7031736" y="509320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Ending Conditions</a:t>
            </a:r>
            <a:endParaRPr lang="en-US" sz="1600" dirty="0"/>
          </a:p>
        </p:txBody>
      </p:sp>
      <p:sp>
        <p:nvSpPr>
          <p:cNvPr id="42" name="Text"/>
          <p:cNvSpPr txBox="1"/>
          <p:nvPr/>
        </p:nvSpPr>
        <p:spPr>
          <a:xfrm>
            <a:off x="7031736" y="5486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Most end with a save, a Long Rest, Lesser or Greater Restoration, or when the source ends.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Social Interaction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60578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594360" y="1417320"/>
            <a:ext cx="548640" cy="493776"/>
          </a:xfrm>
          <a:prstGeom prst="hexag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27048"/>
            <a:ext cx="274320" cy="27432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280160" y="1389888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Friendly</a:t>
            </a:r>
            <a:endParaRPr lang="en-US" sz="1600" dirty="0"/>
          </a:p>
        </p:txBody>
      </p:sp>
      <p:sp>
        <p:nvSpPr>
          <p:cNvPr id="7" name="Text"/>
          <p:cNvSpPr txBox="1"/>
          <p:nvPr/>
        </p:nvSpPr>
        <p:spPr>
          <a:xfrm>
            <a:off x="1280160" y="1783080"/>
            <a:ext cx="2645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Wants to help and will likely grant reasonable requests.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1584" y="1280160"/>
            <a:ext cx="360578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9" name="Icon badge"/>
          <p:cNvSpPr/>
          <p:nvPr/>
        </p:nvSpPr>
        <p:spPr>
          <a:xfrm>
            <a:off x="4428744" y="1417320"/>
            <a:ext cx="548640" cy="493776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904" y="1527048"/>
            <a:ext cx="274320" cy="27432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114544" y="1389888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Indifferent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5114544" y="1783080"/>
            <a:ext cx="2645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Neutral. Needs a reason or an incentive to help.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280160"/>
            <a:ext cx="360578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4" name="Icon badge"/>
          <p:cNvSpPr/>
          <p:nvPr/>
        </p:nvSpPr>
        <p:spPr>
          <a:xfrm>
            <a:off x="8263128" y="1417320"/>
            <a:ext cx="548640" cy="493776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88" y="1527048"/>
            <a:ext cx="274320" cy="274320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948928" y="1389888"/>
            <a:ext cx="264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Hostile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8948928" y="1783080"/>
            <a:ext cx="2645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Opposes you. May refuse, attack, or demand a price.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288036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594360" y="2880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Influence Action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2743200" y="2880360"/>
            <a:ext cx="2834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288036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Roleplay your goal</a:t>
            </a:r>
            <a:endParaRPr lang="en-US" sz="1500" dirty="0"/>
          </a:p>
        </p:txBody>
      </p:sp>
      <p:sp>
        <p:nvSpPr>
          <p:cNvPr id="22" name="Text"/>
          <p:cNvSpPr txBox="1"/>
          <p:nvPr/>
        </p:nvSpPr>
        <p:spPr>
          <a:xfrm>
            <a:off x="288036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Say what you want and how you ask for it.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760720" y="2880360"/>
            <a:ext cx="2834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589788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DM sets the DC</a:t>
            </a:r>
            <a:endParaRPr lang="en-US" sz="1500" dirty="0"/>
          </a:p>
        </p:txBody>
      </p:sp>
      <p:sp>
        <p:nvSpPr>
          <p:cNvPr id="25" name="Text"/>
          <p:cNvSpPr txBox="1"/>
          <p:nvPr/>
        </p:nvSpPr>
        <p:spPr>
          <a:xfrm>
            <a:off x="589788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is 15 or the target’s INT score, whichever is higher.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8778240" y="2880360"/>
            <a:ext cx="2834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891540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Roll the check</a:t>
            </a:r>
            <a:endParaRPr lang="en-US" sz="1500" dirty="0"/>
          </a:p>
        </p:txBody>
      </p:sp>
      <p:sp>
        <p:nvSpPr>
          <p:cNvPr id="28" name="Text"/>
          <p:cNvSpPr txBox="1"/>
          <p:nvPr/>
        </p:nvSpPr>
        <p:spPr>
          <a:xfrm>
            <a:off x="8915400" y="3291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 (Deception, Intimidation, Performance, Persuasion) or WIS (Animal Handling).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457200" y="4434840"/>
            <a:ext cx="17647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566928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Persuasion</a:t>
            </a:r>
            <a:endParaRPr lang="en-US" sz="1500" dirty="0"/>
          </a:p>
        </p:txBody>
      </p:sp>
      <p:sp>
        <p:nvSpPr>
          <p:cNvPr id="31" name="Text"/>
          <p:cNvSpPr txBox="1"/>
          <p:nvPr/>
        </p:nvSpPr>
        <p:spPr>
          <a:xfrm>
            <a:off x="566928" y="49194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Honest, tactful appeals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2359152" y="4434840"/>
            <a:ext cx="17647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2468880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Deception</a:t>
            </a:r>
            <a:endParaRPr lang="en-US" sz="1500" dirty="0"/>
          </a:p>
        </p:txBody>
      </p:sp>
      <p:sp>
        <p:nvSpPr>
          <p:cNvPr id="34" name="Text"/>
          <p:cNvSpPr txBox="1"/>
          <p:nvPr/>
        </p:nvSpPr>
        <p:spPr>
          <a:xfrm>
            <a:off x="2468880" y="49194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Lies and disguises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4261104" y="4434840"/>
            <a:ext cx="17647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6" name="Text"/>
          <p:cNvSpPr txBox="1"/>
          <p:nvPr/>
        </p:nvSpPr>
        <p:spPr>
          <a:xfrm>
            <a:off x="4370832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Intimidation</a:t>
            </a:r>
            <a:endParaRPr lang="en-US" sz="1500" dirty="0"/>
          </a:p>
        </p:txBody>
      </p:sp>
      <p:sp>
        <p:nvSpPr>
          <p:cNvPr id="37" name="Text"/>
          <p:cNvSpPr txBox="1"/>
          <p:nvPr/>
        </p:nvSpPr>
        <p:spPr>
          <a:xfrm>
            <a:off x="4370832" y="49194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Threats and force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6163056" y="4434840"/>
            <a:ext cx="17647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9" name="Text"/>
          <p:cNvSpPr txBox="1"/>
          <p:nvPr/>
        </p:nvSpPr>
        <p:spPr>
          <a:xfrm>
            <a:off x="6272784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40" name="Text"/>
          <p:cNvSpPr txBox="1"/>
          <p:nvPr/>
        </p:nvSpPr>
        <p:spPr>
          <a:xfrm>
            <a:off x="6272784" y="49194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Entertain a crowd</a:t>
            </a:r>
            <a:endParaRPr lang="en-US" sz="1400" dirty="0"/>
          </a:p>
        </p:txBody>
      </p:sp>
      <p:sp>
        <p:nvSpPr>
          <p:cNvPr id="41" name="Card"/>
          <p:cNvSpPr/>
          <p:nvPr/>
        </p:nvSpPr>
        <p:spPr>
          <a:xfrm>
            <a:off x="8065008" y="4434840"/>
            <a:ext cx="17647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2" name="Text"/>
          <p:cNvSpPr txBox="1"/>
          <p:nvPr/>
        </p:nvSpPr>
        <p:spPr>
          <a:xfrm>
            <a:off x="8174736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Insight</a:t>
            </a:r>
            <a:endParaRPr lang="en-US" sz="1500" dirty="0"/>
          </a:p>
        </p:txBody>
      </p:sp>
      <p:sp>
        <p:nvSpPr>
          <p:cNvPr id="43" name="Text"/>
          <p:cNvSpPr txBox="1"/>
          <p:nvPr/>
        </p:nvSpPr>
        <p:spPr>
          <a:xfrm>
            <a:off x="8174736" y="49194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motives</a:t>
            </a:r>
            <a:endParaRPr lang="en-US" sz="1400" dirty="0"/>
          </a:p>
        </p:txBody>
      </p:sp>
      <p:sp>
        <p:nvSpPr>
          <p:cNvPr id="44" name="Card"/>
          <p:cNvSpPr/>
          <p:nvPr/>
        </p:nvSpPr>
        <p:spPr>
          <a:xfrm>
            <a:off x="9966960" y="4434840"/>
            <a:ext cx="176479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5" name="Text"/>
          <p:cNvSpPr txBox="1"/>
          <p:nvPr/>
        </p:nvSpPr>
        <p:spPr>
          <a:xfrm>
            <a:off x="10076688" y="4498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Animal Handling</a:t>
            </a:r>
            <a:endParaRPr lang="en-US" sz="1500" dirty="0"/>
          </a:p>
        </p:txBody>
      </p:sp>
      <p:sp>
        <p:nvSpPr>
          <p:cNvPr id="46" name="Text"/>
          <p:cNvSpPr txBox="1"/>
          <p:nvPr/>
        </p:nvSpPr>
        <p:spPr>
          <a:xfrm>
            <a:off x="10076688" y="491947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Calm or direct beasts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Exploration</a:t>
            </a:r>
            <a:endParaRPr lang="en-US" sz="3600" b="0" dirty="0">
              <a:latin typeface="Mangoli" pitchFamily="2" charset="0"/>
            </a:endParaRPr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94960" cy="2011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Pace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Hour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Fast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mi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mi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−5 passive Perception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Normal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mi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mi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Slow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 mi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 use Stealth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F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520440"/>
            <a:ext cx="53949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64008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Mangoli" pitchFamily="2" charset="0"/>
              </a:rPr>
              <a:t>Light and Supplies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6" name="Text"/>
          <p:cNvSpPr txBox="1"/>
          <p:nvPr/>
        </p:nvSpPr>
        <p:spPr>
          <a:xfrm>
            <a:off x="640080" y="40690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Torch: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20 ft bright + 20 ft dim light.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Lantern: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30 ft bright + 30 ft dim light.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Supplies: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1 lb food and 1 gallon water per day.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accent2"/>
                </a:solidFill>
                <a:latin typeface="Mangoli" pitchFamily="2" charset="0"/>
              </a:rPr>
              <a:t>Going without: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leads to Exhaustion.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Mangoli" pitchFamily="2" charset="0"/>
              </a:rPr>
              <a:t>Party Roles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8" name="Card"/>
          <p:cNvSpPr/>
          <p:nvPr/>
        </p:nvSpPr>
        <p:spPr>
          <a:xfrm>
            <a:off x="6126480" y="1737360"/>
            <a:ext cx="2734056" cy="845820"/>
          </a:xfrm>
          <a:prstGeom prst="roundRect">
            <a:avLst>
              <a:gd name="adj" fmla="val 12973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6309360" y="182880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Navigator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0" name="Text"/>
          <p:cNvSpPr txBox="1"/>
          <p:nvPr/>
        </p:nvSpPr>
        <p:spPr>
          <a:xfrm>
            <a:off x="6309360" y="2176272"/>
            <a:ext cx="2368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Survival to avoid getting lost.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ard"/>
          <p:cNvSpPr/>
          <p:nvPr/>
        </p:nvSpPr>
        <p:spPr>
          <a:xfrm>
            <a:off x="8997696" y="1737360"/>
            <a:ext cx="2734056" cy="845820"/>
          </a:xfrm>
          <a:prstGeom prst="roundRect">
            <a:avLst>
              <a:gd name="adj" fmla="val 1297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9180576" y="182880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Scout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3" name="Text"/>
          <p:cNvSpPr txBox="1"/>
          <p:nvPr/>
        </p:nvSpPr>
        <p:spPr>
          <a:xfrm>
            <a:off x="9180576" y="2176272"/>
            <a:ext cx="2368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Stealth and Perception ahead.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4" name="Card"/>
          <p:cNvSpPr/>
          <p:nvPr/>
        </p:nvSpPr>
        <p:spPr>
          <a:xfrm>
            <a:off x="6126480" y="2720340"/>
            <a:ext cx="2734056" cy="845820"/>
          </a:xfrm>
          <a:prstGeom prst="roundRect">
            <a:avLst>
              <a:gd name="adj" fmla="val 1297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6309360" y="281178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Forager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6" name="Text"/>
          <p:cNvSpPr txBox="1"/>
          <p:nvPr/>
        </p:nvSpPr>
        <p:spPr>
          <a:xfrm>
            <a:off x="6309360" y="3159252"/>
            <a:ext cx="2368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Survival for food and water.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7" name="Card"/>
          <p:cNvSpPr/>
          <p:nvPr/>
        </p:nvSpPr>
        <p:spPr>
          <a:xfrm>
            <a:off x="8997696" y="2720340"/>
            <a:ext cx="2734056" cy="845820"/>
          </a:xfrm>
          <a:prstGeom prst="roundRect">
            <a:avLst>
              <a:gd name="adj" fmla="val 1297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9180576" y="281178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Lookout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9" name="Text"/>
          <p:cNvSpPr txBox="1"/>
          <p:nvPr/>
        </p:nvSpPr>
        <p:spPr>
          <a:xfrm>
            <a:off x="9180576" y="3159252"/>
            <a:ext cx="2368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Passive Perception 10 + mods.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0" name="Card"/>
          <p:cNvSpPr/>
          <p:nvPr/>
        </p:nvSpPr>
        <p:spPr>
          <a:xfrm>
            <a:off x="6126480" y="3749040"/>
            <a:ext cx="560527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630936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  <a:latin typeface="Mangoli" pitchFamily="2" charset="0"/>
              </a:rPr>
              <a:t>Searching and Time</a:t>
            </a:r>
            <a:endParaRPr lang="en-US" sz="1800" dirty="0">
              <a:latin typeface="Mangoli" pitchFamily="2" charset="0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6309360" y="42976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  <a:latin typeface="Mangoli" pitchFamily="2" charset="0"/>
              </a:rPr>
              <a:t>Search action: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WIS check to spot hidden doors and traps.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  <a:latin typeface="Mangoli" pitchFamily="2" charset="0"/>
              </a:rPr>
              <a:t>Deduce: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INT (Investigation) to piece clues together.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  <a:latin typeface="Mangoli" pitchFamily="2" charset="0"/>
              </a:rPr>
              <a:t>Time scales: </a:t>
            </a: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round (6 s), minute, hour, day.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30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gion art" descr="Illustration of Targ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Caption panel"/>
          <p:cNvSpPr/>
          <p:nvPr/>
        </p:nvSpPr>
        <p:spPr>
          <a:xfrm>
            <a:off x="0" y="4709160"/>
            <a:ext cx="4206240" cy="2148840"/>
          </a:xfrm>
          <a:prstGeom prst="rect">
            <a:avLst/>
          </a:prstGeom>
          <a:solidFill>
            <a:schemeClr val="bg1">
              <a:alpha val="78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365760" y="4937760"/>
            <a:ext cx="914400" cy="82296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120640"/>
            <a:ext cx="457200" cy="4572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  <a:latin typeface="Mangoli" pitchFamily="2" charset="0"/>
              </a:rPr>
              <a:t>TARGON</a:t>
            </a:r>
            <a:endParaRPr lang="en-US" sz="2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365760" y="5943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Aspect-touched priests of sun, moon, and stars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274320"/>
            <a:ext cx="7159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Cleric: Targon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4572000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d8 Hit Die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0" name="Chip"/>
          <p:cNvSpPr/>
          <p:nvPr/>
        </p:nvSpPr>
        <p:spPr>
          <a:xfrm>
            <a:off x="6396228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Primary: WIS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hip"/>
          <p:cNvSpPr/>
          <p:nvPr/>
        </p:nvSpPr>
        <p:spPr>
          <a:xfrm>
            <a:off x="8220456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Saves: WIS, CHA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hip"/>
          <p:cNvSpPr/>
          <p:nvPr/>
        </p:nvSpPr>
        <p:spPr>
          <a:xfrm>
            <a:off x="10044684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Armor: Light, Medium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4754880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Level 1 Features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4754880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Spellcasting (WIS): 3 cantrips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Divine Order: Protector or Thaumaturge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Prepared spells from the Cleric list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6" name="Card"/>
          <p:cNvSpPr/>
          <p:nvPr/>
        </p:nvSpPr>
        <p:spPr>
          <a:xfrm>
            <a:off x="8257032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39912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Levels 2–3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439912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Channel Divinity: Divine Spark, Turn Undead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Subclass at 3: Light Domain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Radiance of the Dawn, Warding Flare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4572000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4754880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Runeterra Flavor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4754880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Solari channel the sun; Lunari draw on moonlight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An Aspect of Targon is your patron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Star-touched pilgrimage up the mountain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8257032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439912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Build Ideas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4" name="Text"/>
          <p:cNvSpPr txBox="1"/>
          <p:nvPr/>
        </p:nvSpPr>
        <p:spPr>
          <a:xfrm>
            <a:off x="8439912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Species: Aasimar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Spells: Sacred Flame, Bless, Cure Wounds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Background: Acolyte or Hermit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31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gion art" descr="Illustration of Dema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Caption panel"/>
          <p:cNvSpPr/>
          <p:nvPr/>
        </p:nvSpPr>
        <p:spPr>
          <a:xfrm>
            <a:off x="0" y="4709160"/>
            <a:ext cx="4206240" cy="2148840"/>
          </a:xfrm>
          <a:prstGeom prst="rect">
            <a:avLst/>
          </a:prstGeom>
          <a:solidFill>
            <a:schemeClr val="bg1">
              <a:alpha val="78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365760" y="4937760"/>
            <a:ext cx="914400" cy="822960"/>
          </a:xfrm>
          <a:prstGeom prst="hexag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120640"/>
            <a:ext cx="457200" cy="4572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  <a:latin typeface="Mangoli" pitchFamily="2" charset="0"/>
              </a:rPr>
              <a:t>DEMACIA</a:t>
            </a:r>
            <a:endParaRPr lang="en-US" sz="2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365760" y="5943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Dauntless guardians of the realm’s high walls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274320"/>
            <a:ext cx="7159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Paladin: Demacia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4572000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d10 Hit Die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0" name="Chip"/>
          <p:cNvSpPr/>
          <p:nvPr/>
        </p:nvSpPr>
        <p:spPr>
          <a:xfrm>
            <a:off x="6396228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Primary: STR, CHA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hip"/>
          <p:cNvSpPr/>
          <p:nvPr/>
        </p:nvSpPr>
        <p:spPr>
          <a:xfrm>
            <a:off x="8220456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Saves: WIS, CHA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hip"/>
          <p:cNvSpPr/>
          <p:nvPr/>
        </p:nvSpPr>
        <p:spPr>
          <a:xfrm>
            <a:off x="10044684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Armor: All + Shield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4754880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Level 1 Features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4754880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Lay On Hands: heal pool of 5 × level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Spellcasting (CHA) with a holy symbol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Weapon Mastery with two weapons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6" name="Card"/>
          <p:cNvSpPr/>
          <p:nvPr/>
        </p:nvSpPr>
        <p:spPr>
          <a:xfrm>
            <a:off x="8257032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39912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Levels 2–3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439912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Fighting Style and Paladin’s Smite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Divine Smite: 2d8 radiant, +1d8 per slot above 1st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Subclass at 3: Oath of Devotion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4572000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4754880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Runeterra Flavor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4754880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The Dauntless Vanguard guards Demacia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Honor, duty, and justice drive your Oath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How does your hero view magic and mages?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8257032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439912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Build Ideas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4" name="Text"/>
          <p:cNvSpPr txBox="1"/>
          <p:nvPr/>
        </p:nvSpPr>
        <p:spPr>
          <a:xfrm>
            <a:off x="8439912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Species: Human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Gear: Longsword, shield, chain mail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Background: Soldier or Noble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32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gion art" descr="Illustration of Bilgewa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Caption panel"/>
          <p:cNvSpPr/>
          <p:nvPr/>
        </p:nvSpPr>
        <p:spPr>
          <a:xfrm>
            <a:off x="0" y="4709160"/>
            <a:ext cx="4206240" cy="2148840"/>
          </a:xfrm>
          <a:prstGeom prst="rect">
            <a:avLst/>
          </a:prstGeom>
          <a:solidFill>
            <a:schemeClr val="bg1">
              <a:alpha val="78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365760" y="4937760"/>
            <a:ext cx="914400" cy="822960"/>
          </a:xfrm>
          <a:prstGeom prst="hexag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120640"/>
            <a:ext cx="457200" cy="4572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  <a:latin typeface="Mangoli" pitchFamily="2" charset="0"/>
              </a:rPr>
              <a:t>BILGEWATER</a:t>
            </a:r>
            <a:endParaRPr lang="en-US" sz="2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365760" y="5943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Monster hunters of the Serpent Isles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274320"/>
            <a:ext cx="7159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Ranger: Bilgewater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4572000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d10 Hit Die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0" name="Chip"/>
          <p:cNvSpPr/>
          <p:nvPr/>
        </p:nvSpPr>
        <p:spPr>
          <a:xfrm>
            <a:off x="6396228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Primary: DEX, WIS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hip"/>
          <p:cNvSpPr/>
          <p:nvPr/>
        </p:nvSpPr>
        <p:spPr>
          <a:xfrm>
            <a:off x="8220456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Saves: STR, DEX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hip"/>
          <p:cNvSpPr/>
          <p:nvPr/>
        </p:nvSpPr>
        <p:spPr>
          <a:xfrm>
            <a:off x="10044684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Armor: Light, Medium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4754880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Level 1 Features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4754880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Spellcasting (WIS)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Favored Enemy: free Hunter’s Mark, 2 per Long Rest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Weapon Mastery with two weapons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6" name="Card"/>
          <p:cNvSpPr/>
          <p:nvPr/>
        </p:nvSpPr>
        <p:spPr>
          <a:xfrm>
            <a:off x="8257032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39912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Levels 2–3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439912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Deft Explorer: Expertise + 2 languages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Fighting Style at level 2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Subclass at 3: Hunter (Colossus Slayer)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4572000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4754880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  <a:latin typeface="Mangoli" pitchFamily="2" charset="0"/>
              </a:rPr>
              <a:t>Runeterra Flavor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4754880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Serpent Isles monster hunters and sea-beast stalkers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Harbor towns: bounties, black markets, gunpowder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Contracts on river terrors and krakens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8257032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439912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Mangoli" pitchFamily="2" charset="0"/>
              </a:rPr>
              <a:t>Build Ideas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4" name="Text"/>
          <p:cNvSpPr txBox="1"/>
          <p:nvPr/>
        </p:nvSpPr>
        <p:spPr>
          <a:xfrm>
            <a:off x="8439912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Species: Human or Halfling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Gear: Shortbow or two shortswords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Background: Sailor or Guide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33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gion art" descr="Illustration of Shuri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Caption panel"/>
          <p:cNvSpPr/>
          <p:nvPr/>
        </p:nvSpPr>
        <p:spPr>
          <a:xfrm>
            <a:off x="0" y="4709160"/>
            <a:ext cx="4206240" cy="2148840"/>
          </a:xfrm>
          <a:prstGeom prst="rect">
            <a:avLst/>
          </a:prstGeom>
          <a:solidFill>
            <a:schemeClr val="bg1">
              <a:alpha val="78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365760" y="4937760"/>
            <a:ext cx="914400" cy="822960"/>
          </a:xfrm>
          <a:prstGeom prst="hexag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120640"/>
            <a:ext cx="457200" cy="4572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  <a:latin typeface="Mangoli" pitchFamily="2" charset="0"/>
              </a:rPr>
              <a:t>SHURIMA</a:t>
            </a:r>
            <a:endParaRPr lang="en-US" sz="2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365760" y="5943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Ascended bloodlines of the fallen sun empire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274320"/>
            <a:ext cx="7159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Sorcerer: Shurima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4572000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d6 Hit Die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0" name="Chip"/>
          <p:cNvSpPr/>
          <p:nvPr/>
        </p:nvSpPr>
        <p:spPr>
          <a:xfrm>
            <a:off x="6396228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Primary: CHA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hip"/>
          <p:cNvSpPr/>
          <p:nvPr/>
        </p:nvSpPr>
        <p:spPr>
          <a:xfrm>
            <a:off x="8220456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Saves: CON, CHA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hip"/>
          <p:cNvSpPr/>
          <p:nvPr/>
        </p:nvSpPr>
        <p:spPr>
          <a:xfrm>
            <a:off x="10044684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Armor: None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4754880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Level 1 Features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4754880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Spellcasting (CHA): 4 cantrips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Innate Sorcery: +1 spell DC and Advantage on spell attacks for 1 minute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2 prepared spells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6" name="Card"/>
          <p:cNvSpPr/>
          <p:nvPr/>
        </p:nvSpPr>
        <p:spPr>
          <a:xfrm>
            <a:off x="8257032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39912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  <a:latin typeface="Mangoli" pitchFamily="2" charset="0"/>
              </a:rPr>
              <a:t>Levels 2–3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439912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Font of Magic: Sorcery Points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Metamagic: pick 2 (Quickened, Twinned, Subtle)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Subclass at 3: Draconic Sorcery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4572000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4754880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Runeterra Flavor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4754880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Ascended blood from a fallen sun empire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Sun discs and sand in every spell effect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Ancient rites awaken Innate Sorcery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8257032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439912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Build Ideas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4" name="Text"/>
          <p:cNvSpPr txBox="1"/>
          <p:nvPr/>
        </p:nvSpPr>
        <p:spPr>
          <a:xfrm>
            <a:off x="8439912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Species: Dragonborn or Human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Spells: Fire Bolt, Shield, Burning Hands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Background: Sage or Hermit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34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gion art" descr="Illustration of Ion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Caption panel"/>
          <p:cNvSpPr/>
          <p:nvPr/>
        </p:nvSpPr>
        <p:spPr>
          <a:xfrm>
            <a:off x="0" y="4709160"/>
            <a:ext cx="4206240" cy="2148840"/>
          </a:xfrm>
          <a:prstGeom prst="rect">
            <a:avLst/>
          </a:prstGeom>
          <a:solidFill>
            <a:schemeClr val="bg1">
              <a:alpha val="78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Icon badge"/>
          <p:cNvSpPr/>
          <p:nvPr/>
        </p:nvSpPr>
        <p:spPr>
          <a:xfrm>
            <a:off x="365760" y="4937760"/>
            <a:ext cx="914400" cy="822960"/>
          </a:xfrm>
          <a:prstGeom prst="hexag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con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120640"/>
            <a:ext cx="457200" cy="45720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4630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  <a:latin typeface="Mangoli" pitchFamily="2" charset="0"/>
              </a:rPr>
              <a:t>IONIA</a:t>
            </a:r>
            <a:endParaRPr lang="en-US" sz="2600" dirty="0">
              <a:latin typeface="Mangoli" pitchFamily="2" charset="0"/>
            </a:endParaRPr>
          </a:p>
        </p:txBody>
      </p:sp>
      <p:sp>
        <p:nvSpPr>
          <p:cNvPr id="7" name="Text"/>
          <p:cNvSpPr txBox="1"/>
          <p:nvPr/>
        </p:nvSpPr>
        <p:spPr>
          <a:xfrm>
            <a:off x="365760" y="5943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Spirit-bound masters of balance and flow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274320"/>
            <a:ext cx="7159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0" dirty="0">
                <a:solidFill>
                  <a:schemeClr val="tx2"/>
                </a:solidFill>
                <a:latin typeface="Mangoli" pitchFamily="2" charset="0"/>
              </a:rPr>
              <a:t>Monk: Ionia</a:t>
            </a:r>
            <a:endParaRPr lang="en-US" sz="3600" b="0" dirty="0">
              <a:latin typeface="Mangoli" pitchFamily="2" charset="0"/>
            </a:endParaRPr>
          </a:p>
        </p:txBody>
      </p:sp>
      <p:sp>
        <p:nvSpPr>
          <p:cNvPr id="9" name="Chip"/>
          <p:cNvSpPr/>
          <p:nvPr/>
        </p:nvSpPr>
        <p:spPr>
          <a:xfrm>
            <a:off x="4572000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d8 Hit Die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0" name="Chip"/>
          <p:cNvSpPr/>
          <p:nvPr/>
        </p:nvSpPr>
        <p:spPr>
          <a:xfrm>
            <a:off x="6396228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Primary: DEX, WIS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1" name="Chip"/>
          <p:cNvSpPr/>
          <p:nvPr/>
        </p:nvSpPr>
        <p:spPr>
          <a:xfrm>
            <a:off x="8220456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Saves: STR, DEX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2" name="Chip"/>
          <p:cNvSpPr/>
          <p:nvPr/>
        </p:nvSpPr>
        <p:spPr>
          <a:xfrm>
            <a:off x="10044684" y="1234440"/>
            <a:ext cx="1687068" cy="594360"/>
          </a:xfrm>
          <a:prstGeom prst="roundRect">
            <a:avLst>
              <a:gd name="adj" fmla="val 4615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Mangoli" pitchFamily="2" charset="0"/>
              </a:rPr>
              <a:t>Armor: None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3" name="Card"/>
          <p:cNvSpPr/>
          <p:nvPr/>
        </p:nvSpPr>
        <p:spPr>
          <a:xfrm>
            <a:off x="457200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4754880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Level 1 Features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5" name="Text"/>
          <p:cNvSpPr txBox="1"/>
          <p:nvPr/>
        </p:nvSpPr>
        <p:spPr>
          <a:xfrm>
            <a:off x="4754880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Martial Arts: d6 unarmed strikes using DEX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Bonus Action unarmed strike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Unarmored Defense: AC 10 + DEX + WIS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6" name="Card"/>
          <p:cNvSpPr/>
          <p:nvPr/>
        </p:nvSpPr>
        <p:spPr>
          <a:xfrm>
            <a:off x="8257032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8439912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Mangoli" pitchFamily="2" charset="0"/>
              </a:rPr>
              <a:t>Levels 2–3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439912" y="2514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Monk’s Focus: Flurry of Blows, Patient Defense, Step of the Wind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Unarmored Movement: +10 ft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Level 3: Deflect Attacks, Open Hand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19" name="Card"/>
          <p:cNvSpPr/>
          <p:nvPr/>
        </p:nvSpPr>
        <p:spPr>
          <a:xfrm>
            <a:off x="4572000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4754880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Mangoli" pitchFamily="2" charset="0"/>
              </a:rPr>
              <a:t>Runeterra Flavor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4754880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Balance between mortal and spirit realms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Flowing style rooted in old traditions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Mountain monasteries and spirit blossom festivals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2" name="Card"/>
          <p:cNvSpPr/>
          <p:nvPr/>
        </p:nvSpPr>
        <p:spPr>
          <a:xfrm>
            <a:off x="8257032" y="42062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439912" y="4297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Mangoli" pitchFamily="2" charset="0"/>
              </a:rPr>
              <a:t>Build Ideas</a:t>
            </a:r>
            <a:endParaRPr lang="en-US" sz="1600" dirty="0">
              <a:latin typeface="Mangoli" pitchFamily="2" charset="0"/>
            </a:endParaRPr>
          </a:p>
        </p:txBody>
      </p:sp>
      <p:sp>
        <p:nvSpPr>
          <p:cNvPr id="24" name="Text"/>
          <p:cNvSpPr txBox="1"/>
          <p:nvPr/>
        </p:nvSpPr>
        <p:spPr>
          <a:xfrm>
            <a:off x="8439912" y="47091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Species: Elf or Human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Gear: Spear or quarterstaff, darts</a:t>
            </a:r>
            <a:endParaRPr lang="en-US" sz="1400" dirty="0">
              <a:latin typeface="Mangoli" pitchFamily="2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angoli" pitchFamily="2" charset="0"/>
              </a:rPr>
              <a:t>Background: Hermit or Wayfarer</a:t>
            </a:r>
            <a:endParaRPr lang="en-US" sz="1400" dirty="0">
              <a:latin typeface="Mangoli" pitchFamily="2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AA6E"/>
                </a:solidFill>
              </a:defRPr>
            </a:lvl1pPr>
          </a:lstStyle>
          <a:p>
            <a:pPr algn="r"/>
            <a:fld id="{F7021451-1387-4CA6-816F-3879F97B5CBC}" type="slidenum">
              <a:rPr lang="en-US">
                <a:latin typeface="Mangoli" pitchFamily="2" charset="0"/>
              </a:rPr>
              <a:t>35</a:t>
            </a:fld>
            <a:endParaRPr lang="en-US">
              <a:latin typeface="Mangoli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neterra">
  <a:themeElements>
    <a:clrScheme name="Runeterra">
      <a:dk1>
        <a:srgbClr val="F5F0E1"/>
      </a:dk1>
      <a:lt1>
        <a:srgbClr val="0B1426"/>
      </a:lt1>
      <a:dk2>
        <a:srgbClr val="C8AA6E"/>
      </a:dk2>
      <a:lt2>
        <a:srgbClr val="17254A"/>
      </a:lt2>
      <a:accent1>
        <a:srgbClr val="0AC8B9"/>
      </a:accent1>
      <a:accent2>
        <a:srgbClr val="E0B23A"/>
      </a:accent2>
      <a:accent3>
        <a:srgbClr val="8E5CF0"/>
      </a:accent3>
      <a:accent4>
        <a:srgbClr val="F0566E"/>
      </a:accent4>
      <a:accent5>
        <a:srgbClr val="F27BB5"/>
      </a:accent5>
      <a:accent6>
        <a:srgbClr val="3E8BFF"/>
      </a:accent6>
      <a:hlink>
        <a:srgbClr val="0AC8B9"/>
      </a:hlink>
      <a:folHlink>
        <a:srgbClr val="8E5CF0"/>
      </a:folHlink>
    </a:clrScheme>
    <a:fontScheme name="Runeter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4398</Words>
  <Application>Microsoft Office PowerPoint</Application>
  <PresentationFormat>Widescreen</PresentationFormat>
  <Paragraphs>814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Mangoli</vt:lpstr>
      <vt:lpstr>Runeterra</vt:lpstr>
      <vt:lpstr>Legend Of Runeterra’s Enigma</vt:lpstr>
      <vt:lpstr>Core Gameplay</vt:lpstr>
      <vt:lpstr>The Dice and Their Uses</vt:lpstr>
      <vt:lpstr>Dice Notation and the D20 Test</vt:lpstr>
      <vt:lpstr>Advantage and Disadvantage</vt:lpstr>
      <vt:lpstr>The Six Ability Scores</vt:lpstr>
      <vt:lpstr>Skills and Proficiencies</vt:lpstr>
      <vt:lpstr>Modifiers and Proficiency Bonus</vt:lpstr>
      <vt:lpstr>Ability Checks</vt:lpstr>
      <vt:lpstr>Saving Throws</vt:lpstr>
      <vt:lpstr>Hit Points</vt:lpstr>
      <vt:lpstr>Armor Class</vt:lpstr>
      <vt:lpstr>Movement and Environment</vt:lpstr>
      <vt:lpstr>Combat: Roll Initiative</vt:lpstr>
      <vt:lpstr>Combat: Your Turn</vt:lpstr>
      <vt:lpstr>Actions in Combat</vt:lpstr>
      <vt:lpstr>Combat: Attacks and Damage</vt:lpstr>
      <vt:lpstr>Combat Cheat Sheet</vt:lpstr>
      <vt:lpstr>Damage Types and Resistance</vt:lpstr>
      <vt:lpstr>Dropping to 0 HP</vt:lpstr>
      <vt:lpstr>Resting and Recovery</vt:lpstr>
      <vt:lpstr>Spellcasting Fundamentals</vt:lpstr>
      <vt:lpstr>Spell Components</vt:lpstr>
      <vt:lpstr>Concentration</vt:lpstr>
      <vt:lpstr>Spell Save DC and Spell Attacks</vt:lpstr>
      <vt:lpstr>Equipment and Coinage</vt:lpstr>
      <vt:lpstr>Common Conditions (1 of 2)</vt:lpstr>
      <vt:lpstr>Common Conditions (2 of 2)</vt:lpstr>
      <vt:lpstr>Social Interaction</vt:lpstr>
      <vt:lpstr>Exploration</vt:lpstr>
      <vt:lpstr>Cleric: Targon</vt:lpstr>
      <vt:lpstr>Paladin: Demacia</vt:lpstr>
      <vt:lpstr>Ranger: Bilgewater</vt:lpstr>
      <vt:lpstr>Sorcerer: Shurima</vt:lpstr>
      <vt:lpstr>Monk: Ionia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Runeterra D&amp;D Player Primer (5.5e)</dc:title>
  <dc:subject>PptxGenJS Presentation</dc:subject>
  <dc:creator>PptxGenJS</dc:creator>
  <cp:lastModifiedBy>drvaidya.naren@gmail.com</cp:lastModifiedBy>
  <cp:revision>4</cp:revision>
  <dcterms:created xsi:type="dcterms:W3CDTF">2026-10-17T11:49:03Z</dcterms:created>
  <dcterms:modified xsi:type="dcterms:W3CDTF">2026-10-17T18:43:41Z</dcterms:modified>
</cp:coreProperties>
</file>